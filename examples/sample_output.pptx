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8288000" cy="10287000" type="screen16x9"/>
  <p:notesSz cx="6858000" cy="9144000"/>
  <p:defaultTextStyle>
    <a:defPPr>
      <a:defRPr lang="fa"/>
    </a:defPPr>
    <a:lvl1pPr marL="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1pPr>
    <a:lvl2pPr marL="45720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2pPr>
    <a:lvl3pPr marL="91440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3pPr>
    <a:lvl4pPr marL="137160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4pPr>
    <a:lvl5pPr marL="182880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5pPr>
    <a:lvl6pPr marL="228600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6pPr>
    <a:lvl7pPr marL="274320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7pPr>
    <a:lvl8pPr marL="320040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8pPr>
    <a:lvl9pPr marL="3657600" algn="r" defTabSz="457200" rtl="1" eaLnBrk="1" latinLnBrk="0" hangingPunct="1">
      <a:defRPr sz="1800" kern="1200" lang="fa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 rtl="1"/>
            <a:endParaRPr lang="f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 rtl="1"/>
            <a:endParaRPr lang="f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rtl="1"/>
            <a:endParaRPr lang="f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rtl="1"/>
            <a:endParaRPr lang="f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rtl="1"/>
            <a:endParaRPr lang="f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rtl="1">
      <a:defRPr sz="1200" lang="fa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fa" dirty="0">
                <a:rtl val="1"/>
              </a:rPr>
              <a:t>Notes for Slide 1: هوش مصنوعی و آینده یادگیری ماشین</a:t>
            </a:r>
          </a:p>
          <a:p>
            <a:pPr rtl="1"/>
            <a:endParaRPr lang="fa" dirty="0"/>
          </a:p>
          <a:p>
            <a:pPr rtl="1"/>
            <a:r>
              <a:rPr lang="fa" dirty="0">
                <a:rtl val="1"/>
              </a:rPr>
              <a:t>در این اسلاید آغازین، کلیات و اهمیت موج جدید مدل‌های هوش مصنوعی را مرور می‌کنیم.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fa" dirty="0">
                <a:rtl val="1"/>
              </a:rPr>
              <a:t>Notes for Slide 2: سه ستون محوری معماری هوشمند</a:t>
            </a:r>
          </a:p>
          <a:p>
            <a:pPr rtl="1"/>
            <a:endParaRPr lang="fa" dirty="0"/>
          </a:p>
          <a:p>
            <a:pPr rtl="1"/>
            <a:r>
              <a:rPr lang="fa" dirty="0">
                <a:rtl val="1"/>
              </a:rPr>
              <a:t>ستون‌های سه‌گانه نشان‌دهنده معماری یکپارچه برای استقرار سیستم‌های هوش مصنوعی است.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fa" dirty="0">
                <a:rtl val="1"/>
              </a:rPr>
              <a:t>Notes for Slide 3: مراحل گام‌به‌گام استقرار مدل در سازمان</a:t>
            </a:r>
          </a:p>
          <a:p>
            <a:pPr rtl="1"/>
            <a:endParaRPr lang="fa" dirty="0"/>
          </a:p>
          <a:p>
            <a:pPr rtl="1"/>
            <a:r>
              <a:rPr lang="fa" dirty="0">
                <a:rtl val="1"/>
              </a:rPr>
              <a:t>این فرآیند سه‌مرحله‌ای تضمین‌کننده پیاده‌سازی سریع و بدون ریسک است.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fa" dirty="0">
                <a:rtl val="1"/>
              </a:rPr>
              <a:t>Notes for Slide 4: جهش شاخص‌های کلیدی پس از استقرار</a:t>
            </a:r>
          </a:p>
          <a:p>
            <a:pPr rtl="1"/>
            <a:endParaRPr lang="fa" dirty="0"/>
          </a:p>
          <a:p>
            <a:pPr rtl="1"/>
            <a:r>
              <a:rPr lang="fa" dirty="0">
                <a:rtl val="1"/>
              </a:rPr>
              <a:t>شاخص‌های کلیدی آماری موید بهبود چشمگیر فرآیندها هستند.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fa" dirty="0">
                <a:rtl val="1"/>
              </a:rPr>
              <a:t>Notes for Slide 5: مقایسه روش‌های سنتی با سامانه هوشمند</a:t>
            </a:r>
          </a:p>
          <a:p>
            <a:pPr rtl="1"/>
            <a:endParaRPr lang="fa" dirty="0"/>
          </a:p>
          <a:p>
            <a:pPr rtl="1"/>
            <a:r>
              <a:rPr lang="fa" dirty="0">
                <a:rtl val="1"/>
              </a:rPr>
              <a:t>این اسلاید دلیل ضرورت مهاجرت به معماری‌های مدرن را تبیین می‌کند.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_v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a" smtClean="0"/>
              <a:t>1/27/13</a:t>
            </a:fld>
            <a:endParaRPr lang="f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a" smtClean="0"/>
              <a:t>‹#›</a:t>
            </a:fld>
            <a:endParaRPr lang="fa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_v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fa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fa" smtClean="0"/>
              <a:t>1/27/13</a:t>
            </a:fld>
            <a:endParaRPr lang="f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fa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fa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fa" smtClean="0"/>
              <a:t>‹#›</a:t>
            </a:fld>
            <a:endParaRPr lang="f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lang="fa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457200" rtl="1" eaLnBrk="1" latinLnBrk="0" hangingPunct="1">
        <a:spcBef>
          <a:spcPct val="20000"/>
        </a:spcBef>
        <a:buFont typeface="Arial"/>
        <a:buChar char="•"/>
        <a:defRPr sz="3200" kern="1200" lang="fa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buFont typeface="Arial"/>
        <a:buChar char="–"/>
        <a:defRPr sz="2800" kern="1200" lang="fa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ct val="20000"/>
        </a:spcBef>
        <a:buFont typeface="Arial"/>
        <a:buChar char="•"/>
        <a:defRPr sz="2400" kern="1200" lang="fa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ct val="20000"/>
        </a:spcBef>
        <a:buFont typeface="Arial"/>
        <a:buChar char="–"/>
        <a:defRPr sz="2000" kern="1200" lang="fa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ct val="20000"/>
        </a:spcBef>
        <a:buFont typeface="Arial"/>
        <a:buChar char="»"/>
        <a:defRPr sz="2000" kern="1200" lang="fa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 lang="fa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 lang="fa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 lang="fa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 lang="fa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"/>
      </a:defPPr>
      <a:lvl1pPr marL="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 lang="fa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aad83d41b46738f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aad83d41b46738f.jp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g_ambient_waves"/>
          <p:cNvGrpSpPr/>
          <p:nvPr/>
        </p:nvGrpSpPr>
        <p:grpSpPr>
          <a:xfrm>
            <a:off x="0" y="5969000"/>
            <a:ext cx="18288000" cy="4318000"/>
            <a:chOff x="0" y="5969000"/>
            <a:chExt cx="18288000" cy="4318000"/>
          </a:xfrm>
        </p:grpSpPr>
        <p:sp>
          <p:nvSpPr>
            <p:cNvPr id="2" name="Freeform 2"/>
            <p:cNvSpPr/>
            <p:nvPr/>
          </p:nvSpPr>
          <p:spPr>
            <a:xfrm>
              <a:off x="0" y="5969000"/>
              <a:ext cx="18288000" cy="4318000"/>
            </a:xfrm>
            <a:custGeom>
              <a:avLst/>
              <a:gdLst/>
              <a:ahLst/>
              <a:cxnLst/>
              <a:rect l="l" t="t" r="r" b="b"/>
              <a:pathLst>
                <a:path w="18288000" h="4318000">
                  <a:moveTo>
                    <a:pt x="0" y="889000"/>
                  </a:moveTo>
                  <a:cubicBezTo>
                    <a:pt x="3048000" y="0"/>
                    <a:pt x="6096000" y="127000"/>
                    <a:pt x="9144000" y="1270000"/>
                  </a:cubicBezTo>
                  <a:cubicBezTo>
                    <a:pt x="12192000" y="2413000"/>
                    <a:pt x="15240000" y="2159000"/>
                    <a:pt x="18288000" y="508000"/>
                  </a:cubicBezTo>
                  <a:lnTo>
                    <a:pt x="18288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0E1E45">
                <a:alpha val="60000"/>
              </a:srgbClr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7366000"/>
              <a:ext cx="18288000" cy="2921000"/>
            </a:xfrm>
            <a:custGeom>
              <a:avLst/>
              <a:gdLst/>
              <a:ahLst/>
              <a:cxnLst/>
              <a:rect l="l" t="t" r="r" b="b"/>
              <a:pathLst>
                <a:path w="18288000" h="2921000">
                  <a:moveTo>
                    <a:pt x="0" y="635000"/>
                  </a:moveTo>
                  <a:cubicBezTo>
                    <a:pt x="3302000" y="0"/>
                    <a:pt x="6731000" y="190500"/>
                    <a:pt x="10287000" y="1206500"/>
                  </a:cubicBezTo>
                  <a:cubicBezTo>
                    <a:pt x="13843000" y="2222500"/>
                    <a:pt x="16510000" y="1968500"/>
                    <a:pt x="18288000" y="444500"/>
                  </a:cubicBezTo>
                  <a:lnTo>
                    <a:pt x="1828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E1B4B">
                <a:alpha val="85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5969000"/>
              <a:ext cx="18288000" cy="2413000"/>
            </a:xfrm>
            <a:custGeom>
              <a:avLst/>
              <a:gdLst/>
              <a:ahLst/>
              <a:cxnLst/>
              <a:rect l="l" t="t" r="r" b="b"/>
              <a:pathLst>
                <a:path w="18288000" h="2413000">
                  <a:moveTo>
                    <a:pt x="0" y="889000"/>
                  </a:moveTo>
                  <a:cubicBezTo>
                    <a:pt x="3048000" y="0"/>
                    <a:pt x="6096000" y="127000"/>
                    <a:pt x="9144000" y="1270000"/>
                  </a:cubicBezTo>
                  <a:cubicBezTo>
                    <a:pt x="12192000" y="2413000"/>
                    <a:pt x="15240000" y="2159000"/>
                    <a:pt x="18288000" y="508000"/>
                  </a:cubicBezTo>
                </a:path>
              </a:pathLst>
            </a:custGeom>
            <a:noFill/>
            <a:ln w="28575">
              <a:solidFill>
                <a:srgbClr val="00F0FF">
                  <a:alpha val="45000"/>
                </a:srgbClr>
              </a:solidFill>
            </a:ln>
          </p:spPr>
        </p:sp>
      </p:grpSp>
      <p:grpSp>
        <p:nvGrpSpPr>
          <p:cNvPr id="51" name="bg_geometric_accents"/>
          <p:cNvGrpSpPr/>
          <p:nvPr/>
        </p:nvGrpSpPr>
        <p:grpSpPr>
          <a:xfrm>
            <a:off x="0" y="0"/>
            <a:ext cx="20955000" cy="12763500"/>
            <a:chOff x="0" y="0"/>
            <a:chExt cx="20955000" cy="12763500"/>
          </a:xfrm>
        </p:grpSpPr>
        <p:sp>
          <p:nvSpPr>
            <p:cNvPr id="6" name="Ellipse 6"/>
            <p:cNvSpPr/>
            <p:nvPr/>
          </p:nvSpPr>
          <p:spPr>
            <a:xfrm>
              <a:off x="14859000" y="6667500"/>
              <a:ext cx="4953000" cy="4953000"/>
            </a:xfrm>
            <a:prstGeom prst="ellipse">
              <a:avLst/>
            </a:prstGeom>
            <a:noFill/>
            <a:ln w="19050">
              <a:solidFill>
                <a:srgbClr val="00F0FF">
                  <a:alpha val="20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7" name="Ellipse 7"/>
            <p:cNvSpPr/>
            <p:nvPr/>
          </p:nvSpPr>
          <p:spPr>
            <a:xfrm>
              <a:off x="15621000" y="7429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A855F7">
                  <a:alpha val="2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716000" y="5524500"/>
              <a:ext cx="7239000" cy="7239000"/>
            </a:xfrm>
            <a:prstGeom prst="ellipse">
              <a:avLst/>
            </a:prstGeom>
            <a:noFill/>
            <a:ln w="9525">
              <a:solidFill>
                <a:srgbClr val="EC4899">
                  <a:alpha val="12000"/>
                </a:srgbClr>
              </a:solidFill>
              <a:custDash>
                <a:ds d="600000" sp="1400000"/>
              </a:custDash>
            </a:ln>
          </p:spPr>
        </p:sp>
        <p:sp>
          <p:nvSpPr>
            <p:cNvPr id="9" name="Polygon 9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00F0FF">
                <a:alpha val="8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619250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2095500" y="0"/>
                  </a:moveTo>
                  <a:lnTo>
                    <a:pt x="0" y="0"/>
                  </a:lnTo>
                  <a:lnTo>
                    <a:pt x="2095500" y="2095500"/>
                  </a:lnTo>
                  <a:close/>
                </a:path>
              </a:pathLst>
            </a:custGeom>
            <a:solidFill>
              <a:srgbClr val="A855F7">
                <a:alpha val="8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76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572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67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763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3858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5954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8049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145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476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572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667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763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3858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5954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8049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145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476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572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667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63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3858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5954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8049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0145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476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572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667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763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3858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954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8049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0145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476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572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667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763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3858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954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8049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0145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</p:grpSp>
      <p:grpSp>
        <p:nvGrpSpPr>
          <p:cNvPr id="55" name="kicker_pill"/>
          <p:cNvGrpSpPr/>
          <p:nvPr/>
        </p:nvGrpSpPr>
        <p:grpSpPr>
          <a:xfrm>
            <a:off x="11239500" y="2095500"/>
            <a:ext cx="5143500" cy="457200"/>
            <a:chOff x="11239500" y="2095500"/>
            <a:chExt cx="5143500" cy="457200"/>
          </a:xfrm>
        </p:grpSpPr>
        <p:sp>
          <p:nvSpPr>
            <p:cNvPr id="52" name="Rectangle 52"/>
            <p:cNvSpPr/>
            <p:nvPr/>
          </p:nvSpPr>
          <p:spPr>
            <a:xfrm>
              <a:off x="11239500" y="2095500"/>
              <a:ext cx="5143500" cy="457200"/>
            </a:xfrm>
            <a:prstGeom prst="roundRect">
              <a:avLst>
                <a:gd name="adj" fmla="val 50000"/>
              </a:avLst>
            </a:prstGeom>
            <a:solidFill>
              <a:srgbClr val="132147"/>
            </a:solidFill>
            <a:ln w="19050">
              <a:solidFill>
                <a:srgbClr val="00F0FF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6106775" y="2276475"/>
              <a:ext cx="95250" cy="9525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240096" y="2222500"/>
              <a:ext cx="29518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5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  <a:rtl val="1"/>
                </a:rPr>
                <a:t>ارائه تخصصی فناوری و نوآوری</a:t>
              </a:r>
            </a:p>
          </p:txBody>
        </p:sp>
      </p:grpSp>
      <p:grpSp>
        <p:nvGrpSpPr>
          <p:cNvPr id="58" name="title_group"/>
          <p:cNvGrpSpPr/>
          <p:nvPr/>
        </p:nvGrpSpPr>
        <p:grpSpPr>
          <a:xfrm>
            <a:off x="5270724" y="2844800"/>
            <a:ext cx="11131326" cy="1598168"/>
            <a:chOff x="5270724" y="2844800"/>
            <a:chExt cx="11131326" cy="1598168"/>
          </a:xfrm>
        </p:grpSpPr>
        <p:sp>
          <p:nvSpPr>
            <p:cNvPr id="56" name="TextBox 56"/>
            <p:cNvSpPr txBox="1"/>
            <p:nvPr/>
          </p:nvSpPr>
          <p:spPr>
            <a:xfrm>
              <a:off x="5270724" y="2844800"/>
              <a:ext cx="1113132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480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هوش مصنوعی و آینده یادگیری ماشین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96903" y="4032250"/>
              <a:ext cx="88967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21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  <a:rtl val="1"/>
                </a:rPr>
                <a:t>تحول بنیادین در الگوهای پردازش کلان‌داده و تصمیم‌گیری هوشمند</a:t>
              </a:r>
            </a:p>
          </p:txBody>
        </p:sp>
      </p:grpSp>
      <p:grpSp>
        <p:nvGrpSpPr>
          <p:cNvPr id="61" name="accent_spine"/>
          <p:cNvGrpSpPr/>
          <p:nvPr/>
        </p:nvGrpSpPr>
        <p:grpSpPr>
          <a:xfrm>
            <a:off x="16592550" y="2857500"/>
            <a:ext cx="152400" cy="2095500"/>
            <a:chOff x="16592550" y="2857500"/>
            <a:chExt cx="152400" cy="2095500"/>
          </a:xfrm>
        </p:grpSpPr>
        <p:sp>
          <p:nvSpPr>
            <p:cNvPr id="59" name="Rectangle 59"/>
            <p:cNvSpPr/>
            <p:nvPr/>
          </p:nvSpPr>
          <p:spPr>
            <a:xfrm>
              <a:off x="16621125" y="2857500"/>
              <a:ext cx="95250" cy="2095500"/>
            </a:xfrm>
            <a:prstGeom prst="roundRect">
              <a:avLst>
                <a:gd name="adj" fmla="val 50000"/>
              </a:avLst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6592550" y="2857500"/>
              <a:ext cx="152400" cy="571500"/>
            </a:xfrm>
            <a:prstGeom prst="roundRect">
              <a:avLst>
                <a:gd name="adj" fmla="val 25000"/>
              </a:avLst>
            </a:prstGeom>
            <a:solidFill>
              <a:srgbClr val="A855F7"/>
            </a:solidFill>
            <a:ln>
              <a:noFill/>
            </a:ln>
          </p:spPr>
        </p:sp>
      </p:grpSp>
      <p:grpSp>
        <p:nvGrpSpPr>
          <p:cNvPr id="67" name="author_chip"/>
          <p:cNvGrpSpPr/>
          <p:nvPr/>
        </p:nvGrpSpPr>
        <p:grpSpPr>
          <a:xfrm>
            <a:off x="11410950" y="5619750"/>
            <a:ext cx="4972050" cy="609600"/>
            <a:chOff x="11410950" y="5619750"/>
            <a:chExt cx="4972050" cy="609600"/>
          </a:xfrm>
        </p:grpSpPr>
        <p:sp>
          <p:nvSpPr>
            <p:cNvPr id="62" name="Rectangle 62"/>
            <p:cNvSpPr/>
            <p:nvPr/>
          </p:nvSpPr>
          <p:spPr>
            <a:xfrm>
              <a:off x="11410950" y="5619750"/>
              <a:ext cx="4972050" cy="609600"/>
            </a:xfrm>
            <a:prstGeom prst="roundRect">
              <a:avLst>
                <a:gd name="adj" fmla="val 31250"/>
              </a:avLst>
            </a:prstGeom>
            <a:solidFill>
              <a:srgbClr val="10182F"/>
            </a:solidFill>
            <a:ln w="19050">
              <a:solidFill>
                <a:srgbClr val="2563EB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15997238" y="5807869"/>
              <a:ext cx="142875" cy="214313"/>
              <a:chOff x="15997238" y="5807869"/>
              <a:chExt cx="142875" cy="21431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16021050" y="5807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 cap="rnd">
                <a:solidFill>
                  <a:srgbClr val="00F0FF"/>
                </a:solidFill>
                <a:round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5997238" y="59507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 cap="rnd">
                <a:solidFill>
                  <a:srgbClr val="00F0FF"/>
                </a:solidFill>
                <a:round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2385332" y="5797550"/>
              <a:ext cx="3386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6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دکتر احسان حسینی | پاییز ۱۴۰۵</a:t>
              </a:r>
            </a:p>
          </p:txBody>
        </p:sp>
      </p:grpSp>
      <p:grpSp>
        <p:nvGrpSpPr>
          <p:cNvPr id="73" name="hero_image"/>
          <p:cNvGrpSpPr/>
          <p:nvPr/>
        </p:nvGrpSpPr>
        <p:grpSpPr>
          <a:xfrm>
            <a:off x="876300" y="1828800"/>
            <a:ext cx="7296150" cy="6438900"/>
            <a:chOff x="876300" y="1828800"/>
            <a:chExt cx="7296150" cy="6438900"/>
          </a:xfrm>
        </p:grpSpPr>
        <p:sp>
          <p:nvSpPr>
            <p:cNvPr id="68" name="Rectangle 68"/>
            <p:cNvSpPr/>
            <p:nvPr/>
          </p:nvSpPr>
          <p:spPr>
            <a:xfrm>
              <a:off x="876300" y="1828800"/>
              <a:ext cx="7296150" cy="6438900"/>
            </a:xfrm>
            <a:prstGeom prst="roundRect">
              <a:avLst>
                <a:gd name="adj" fmla="val 5325"/>
              </a:avLst>
            </a:prstGeom>
            <a:noFill/>
            <a:ln w="19050">
              <a:solidFill>
                <a:srgbClr val="A855F7">
                  <a:alpha val="40000"/>
                </a:srgbClr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52500" y="1905000"/>
              <a:ext cx="7143750" cy="6286500"/>
            </a:xfrm>
            <a:prstGeom prst="roundRect">
              <a:avLst>
                <a:gd name="adj" fmla="val 4848"/>
              </a:avLst>
            </a:prstGeom>
            <a:solidFill>
              <a:srgbClr val="10182F"/>
            </a:solidFill>
            <a:ln w="28575">
              <a:solidFill>
                <a:srgbClr val="00F0FF"/>
              </a:solidFill>
            </a:ln>
          </p:spPr>
        </p:sp>
        <p:pic>
          <p:nvPicPr>
            <p:cNvPr id="70" name="Image 70"/>
            <p:cNvPicPr>
              <a:picLocks noChangeAspect="1"/>
            </p:cNvPicPr>
            <p:nvPr/>
          </p:nvPicPr>
          <p:blipFill>
            <a:blip r:embed="rId2"/>
            <a:srcRect l="11950" t="0" r="11949" b="0"/>
            <a:stretch>
              <a:fillRect/>
            </a:stretch>
          </p:blipFill>
          <p:spPr>
            <a:xfrm>
              <a:off x="1066800" y="2019300"/>
              <a:ext cx="6915150" cy="6057900"/>
            </a:xfrm>
            <a:prstGeom prst="rect">
              <a:avLst/>
            </a:prstGeom>
          </p:spPr>
        </p:pic>
        <p:sp>
          <p:nvSpPr>
            <p:cNvPr id="71" name="Rectangle 71"/>
            <p:cNvSpPr/>
            <p:nvPr/>
          </p:nvSpPr>
          <p:spPr>
            <a:xfrm>
              <a:off x="1333500" y="7429500"/>
              <a:ext cx="2286000" cy="495300"/>
            </a:xfrm>
            <a:prstGeom prst="roundRect">
              <a:avLst>
                <a:gd name="adj" fmla="val 50000"/>
              </a:avLst>
            </a:prstGeom>
            <a:solidFill>
              <a:srgbClr val="070B19">
                <a:alpha val="92000"/>
              </a:srgbClr>
            </a:solidFill>
            <a:ln w="19050">
              <a:solidFill>
                <a:srgbClr val="00F0F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254915" y="7566025"/>
              <a:ext cx="24431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42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✦ ارائه رسمی و تاییدشده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8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3" presetID="8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g_ambient_waves"/>
          <p:cNvGrpSpPr/>
          <p:nvPr/>
        </p:nvGrpSpPr>
        <p:grpSpPr>
          <a:xfrm>
            <a:off x="0" y="4953000"/>
            <a:ext cx="18288000" cy="5334000"/>
            <a:chOff x="0" y="4953000"/>
            <a:chExt cx="18288000" cy="5334000"/>
          </a:xfrm>
        </p:grpSpPr>
        <p:sp>
          <p:nvSpPr>
            <p:cNvPr id="2" name="Freeform 2"/>
            <p:cNvSpPr/>
            <p:nvPr/>
          </p:nvSpPr>
          <p:spPr>
            <a:xfrm>
              <a:off x="0" y="4953000"/>
              <a:ext cx="18288000" cy="5334000"/>
            </a:xfrm>
            <a:custGeom>
              <a:avLst/>
              <a:gdLst/>
              <a:ahLst/>
              <a:cxnLst/>
              <a:rect l="l" t="t" r="r" b="b"/>
              <a:pathLst>
                <a:path w="18288000" h="5334000">
                  <a:moveTo>
                    <a:pt x="0" y="1333500"/>
                  </a:moveTo>
                  <a:cubicBezTo>
                    <a:pt x="3556000" y="2349500"/>
                    <a:pt x="7048500" y="2286000"/>
                    <a:pt x="10477500" y="1143000"/>
                  </a:cubicBezTo>
                  <a:cubicBezTo>
                    <a:pt x="13906500" y="0"/>
                    <a:pt x="16510000" y="317500"/>
                    <a:pt x="18288000" y="2095500"/>
                  </a:cubicBezTo>
                  <a:lnTo>
                    <a:pt x="18288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0E1E45">
                <a:alpha val="60000"/>
              </a:srgbClr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6540500"/>
              <a:ext cx="18288000" cy="3746500"/>
            </a:xfrm>
            <a:custGeom>
              <a:avLst/>
              <a:gdLst/>
              <a:ahLst/>
              <a:cxnLst/>
              <a:rect l="l" t="t" r="r" b="b"/>
              <a:pathLst>
                <a:path w="18288000" h="3746500">
                  <a:moveTo>
                    <a:pt x="0" y="1079500"/>
                  </a:moveTo>
                  <a:cubicBezTo>
                    <a:pt x="2794000" y="1841500"/>
                    <a:pt x="6032500" y="1778000"/>
                    <a:pt x="9715500" y="889000"/>
                  </a:cubicBezTo>
                  <a:cubicBezTo>
                    <a:pt x="13398500" y="0"/>
                    <a:pt x="16256000" y="254000"/>
                    <a:pt x="18288000" y="1651000"/>
                  </a:cubicBezTo>
                  <a:lnTo>
                    <a:pt x="18288000" y="3746500"/>
                  </a:lnTo>
                  <a:lnTo>
                    <a:pt x="0" y="3746500"/>
                  </a:lnTo>
                  <a:close/>
                </a:path>
              </a:pathLst>
            </a:custGeom>
            <a:solidFill>
              <a:srgbClr val="1E1B4B">
                <a:alpha val="85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4953000"/>
              <a:ext cx="18288000" cy="2349500"/>
            </a:xfrm>
            <a:custGeom>
              <a:avLst/>
              <a:gdLst/>
              <a:ahLst/>
              <a:cxnLst/>
              <a:rect l="l" t="t" r="r" b="b"/>
              <a:pathLst>
                <a:path w="18288000" h="2349500">
                  <a:moveTo>
                    <a:pt x="0" y="1333500"/>
                  </a:moveTo>
                  <a:cubicBezTo>
                    <a:pt x="3556000" y="2349500"/>
                    <a:pt x="7048500" y="2286000"/>
                    <a:pt x="10477500" y="1143000"/>
                  </a:cubicBezTo>
                  <a:cubicBezTo>
                    <a:pt x="13906500" y="0"/>
                    <a:pt x="16510000" y="317500"/>
                    <a:pt x="18288000" y="2095500"/>
                  </a:cubicBezTo>
                </a:path>
              </a:pathLst>
            </a:custGeom>
            <a:noFill/>
            <a:ln w="28575">
              <a:solidFill>
                <a:srgbClr val="A855F7">
                  <a:alpha val="45000"/>
                </a:srgbClr>
              </a:solidFill>
            </a:ln>
          </p:spPr>
        </p:sp>
      </p:grpSp>
      <p:grpSp>
        <p:nvGrpSpPr>
          <p:cNvPr id="51" name="bg_geometric_accents"/>
          <p:cNvGrpSpPr/>
          <p:nvPr/>
        </p:nvGrpSpPr>
        <p:grpSpPr>
          <a:xfrm>
            <a:off x="0" y="0"/>
            <a:ext cx="20955000" cy="12763500"/>
            <a:chOff x="0" y="0"/>
            <a:chExt cx="20955000" cy="12763500"/>
          </a:xfrm>
        </p:grpSpPr>
        <p:sp>
          <p:nvSpPr>
            <p:cNvPr id="6" name="Ellipse 6"/>
            <p:cNvSpPr/>
            <p:nvPr/>
          </p:nvSpPr>
          <p:spPr>
            <a:xfrm>
              <a:off x="14859000" y="6667500"/>
              <a:ext cx="4953000" cy="4953000"/>
            </a:xfrm>
            <a:prstGeom prst="ellipse">
              <a:avLst/>
            </a:prstGeom>
            <a:noFill/>
            <a:ln w="19050">
              <a:solidFill>
                <a:srgbClr val="00F0FF">
                  <a:alpha val="20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7" name="Ellipse 7"/>
            <p:cNvSpPr/>
            <p:nvPr/>
          </p:nvSpPr>
          <p:spPr>
            <a:xfrm>
              <a:off x="15621000" y="7429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A855F7">
                  <a:alpha val="2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716000" y="5524500"/>
              <a:ext cx="7239000" cy="7239000"/>
            </a:xfrm>
            <a:prstGeom prst="ellipse">
              <a:avLst/>
            </a:prstGeom>
            <a:noFill/>
            <a:ln w="9525">
              <a:solidFill>
                <a:srgbClr val="EC4899">
                  <a:alpha val="12000"/>
                </a:srgbClr>
              </a:solidFill>
              <a:custDash>
                <a:ds d="600000" sp="1400000"/>
              </a:custDash>
            </a:ln>
          </p:spPr>
        </p:sp>
        <p:sp>
          <p:nvSpPr>
            <p:cNvPr id="9" name="Polygon 9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00F0FF">
                <a:alpha val="8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619250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2095500" y="0"/>
                  </a:moveTo>
                  <a:lnTo>
                    <a:pt x="0" y="0"/>
                  </a:lnTo>
                  <a:lnTo>
                    <a:pt x="2095500" y="2095500"/>
                  </a:lnTo>
                  <a:close/>
                </a:path>
              </a:pathLst>
            </a:custGeom>
            <a:solidFill>
              <a:srgbClr val="A855F7">
                <a:alpha val="8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76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572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67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763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3858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5954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8049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145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476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572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667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763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3858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5954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8049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145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476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572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667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63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3858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5954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8049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0145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476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572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667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763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3858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954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8049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0145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476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572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667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763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3858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954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8049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0145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</p:grpSp>
      <p:grpSp>
        <p:nvGrpSpPr>
          <p:cNvPr id="54" name="header_group"/>
          <p:cNvGrpSpPr/>
          <p:nvPr/>
        </p:nvGrpSpPr>
        <p:grpSpPr>
          <a:xfrm>
            <a:off x="10078951" y="822325"/>
            <a:ext cx="7084337" cy="1008888"/>
            <a:chOff x="10078951" y="822325"/>
            <a:chExt cx="7084337" cy="1008888"/>
          </a:xfrm>
        </p:grpSpPr>
        <p:sp>
          <p:nvSpPr>
            <p:cNvPr id="52" name="TextBox 52"/>
            <p:cNvSpPr txBox="1"/>
            <p:nvPr/>
          </p:nvSpPr>
          <p:spPr>
            <a:xfrm>
              <a:off x="15260945" y="822325"/>
              <a:ext cx="1891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  <a:rtl val="1"/>
                </a:rPr>
                <a:t>ارکان کلیدی سیستم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78951" y="1127125"/>
              <a:ext cx="708433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360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سه ستون محوری معماری هوشمند</a:t>
              </a:r>
            </a:p>
          </p:txBody>
        </p:sp>
      </p:grpSp>
      <p:grpSp>
        <p:nvGrpSpPr>
          <p:cNvPr id="74" name="card_1"/>
          <p:cNvGrpSpPr/>
          <p:nvPr/>
        </p:nvGrpSpPr>
        <p:grpSpPr>
          <a:xfrm>
            <a:off x="12071350" y="2190750"/>
            <a:ext cx="5168900" cy="6762750"/>
            <a:chOff x="12071350" y="2190750"/>
            <a:chExt cx="5168900" cy="6762750"/>
          </a:xfrm>
        </p:grpSpPr>
        <p:sp>
          <p:nvSpPr>
            <p:cNvPr id="55" name="Rectangle 55"/>
            <p:cNvSpPr/>
            <p:nvPr/>
          </p:nvSpPr>
          <p:spPr>
            <a:xfrm>
              <a:off x="12071350" y="2190750"/>
              <a:ext cx="5168900" cy="6762750"/>
            </a:xfrm>
            <a:prstGeom prst="roundRect">
              <a:avLst>
                <a:gd name="adj" fmla="val 4791"/>
              </a:avLst>
            </a:prstGeom>
            <a:solidFill>
              <a:srgbClr val="10182F"/>
            </a:solidFill>
            <a:ln w="23812">
              <a:solidFill>
                <a:srgbClr val="2563EB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2357100" y="2190750"/>
              <a:ext cx="4597400" cy="47625"/>
            </a:xfrm>
            <a:prstGeom prst="roundRect">
              <a:avLst>
                <a:gd name="adj" fmla="val 50000"/>
              </a:avLst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6097250" y="2533650"/>
              <a:ext cx="800100" cy="800100"/>
            </a:xfrm>
            <a:prstGeom prst="roundRect">
              <a:avLst>
                <a:gd name="adj" fmla="val 28571"/>
              </a:avLst>
            </a:prstGeom>
            <a:noFill/>
            <a:ln w="14288">
              <a:solidFill>
                <a:srgbClr val="00F0FF">
                  <a:alpha val="30000"/>
                </a:srgbClr>
              </a:solidFill>
              <a:custDash>
                <a:ds d="400000" sp="266667"/>
              </a:custDash>
            </a:ln>
          </p:spPr>
        </p:sp>
        <p:sp>
          <p:nvSpPr>
            <p:cNvPr id="58" name="Rectangle 58"/>
            <p:cNvSpPr/>
            <p:nvPr/>
          </p:nvSpPr>
          <p:spPr>
            <a:xfrm>
              <a:off x="16135350" y="2571750"/>
              <a:ext cx="723900" cy="723900"/>
            </a:xfrm>
            <a:prstGeom prst="roundRect">
              <a:avLst>
                <a:gd name="adj" fmla="val 28947"/>
              </a:avLst>
            </a:prstGeom>
            <a:solidFill>
              <a:srgbClr val="132147"/>
            </a:solidFill>
            <a:ln w="23812">
              <a:solidFill>
                <a:srgbClr val="00F0FF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16340138" y="2776538"/>
              <a:ext cx="314324" cy="314324"/>
              <a:chOff x="16340138" y="2776538"/>
              <a:chExt cx="314324" cy="31432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6497300" y="2951162"/>
                <a:ext cx="122237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39700">
                    <a:moveTo>
                      <a:pt x="61119" y="0"/>
                    </a:moveTo>
                    <a:cubicBezTo>
                      <a:pt x="27364" y="0"/>
                      <a:pt x="0" y="27364"/>
                      <a:pt x="0" y="61119"/>
                    </a:cubicBezTo>
                    <a:lnTo>
                      <a:pt x="0" y="78581"/>
                    </a:lnTo>
                    <a:cubicBezTo>
                      <a:pt x="0" y="112336"/>
                      <a:pt x="27364" y="139700"/>
                      <a:pt x="61119" y="139700"/>
                    </a:cubicBezTo>
                    <a:cubicBezTo>
                      <a:pt x="94874" y="139700"/>
                      <a:pt x="122237" y="112336"/>
                      <a:pt x="122237" y="78581"/>
                    </a:cubicBezTo>
                    <a:lnTo>
                      <a:pt x="122237" y="47149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6375062" y="2951162"/>
                <a:ext cx="122237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39700">
                    <a:moveTo>
                      <a:pt x="61119" y="0"/>
                    </a:moveTo>
                    <a:cubicBezTo>
                      <a:pt x="94874" y="0"/>
                      <a:pt x="122237" y="27364"/>
                      <a:pt x="122237" y="61119"/>
                    </a:cubicBezTo>
                    <a:lnTo>
                      <a:pt x="122237" y="78581"/>
                    </a:lnTo>
                    <a:cubicBezTo>
                      <a:pt x="122237" y="112336"/>
                      <a:pt x="94874" y="139700"/>
                      <a:pt x="61119" y="139700"/>
                    </a:cubicBezTo>
                    <a:cubicBezTo>
                      <a:pt x="27364" y="139700"/>
                      <a:pt x="0" y="112336"/>
                      <a:pt x="0" y="78581"/>
                    </a:cubicBezTo>
                    <a:lnTo>
                      <a:pt x="0" y="47149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6584612" y="2881312"/>
                <a:ext cx="69850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22237">
                    <a:moveTo>
                      <a:pt x="8731" y="122237"/>
                    </a:moveTo>
                    <a:cubicBezTo>
                      <a:pt x="42486" y="122237"/>
                      <a:pt x="69850" y="94874"/>
                      <a:pt x="69850" y="61119"/>
                    </a:cubicBezTo>
                    <a:cubicBezTo>
                      <a:pt x="69850" y="27364"/>
                      <a:pt x="42486" y="0"/>
                      <a:pt x="8731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6497300" y="2776538"/>
                <a:ext cx="122237" cy="110014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10014">
                    <a:moveTo>
                      <a:pt x="122237" y="110014"/>
                    </a:moveTo>
                    <a:lnTo>
                      <a:pt x="122237" y="61119"/>
                    </a:lnTo>
                    <a:cubicBezTo>
                      <a:pt x="122237" y="27364"/>
                      <a:pt x="94874" y="0"/>
                      <a:pt x="61119" y="0"/>
                    </a:cubicBezTo>
                    <a:cubicBezTo>
                      <a:pt x="27364" y="0"/>
                      <a:pt x="0" y="27364"/>
                      <a:pt x="0" y="61119"/>
                    </a:cubicBez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6340138" y="2881312"/>
                <a:ext cx="69850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22237">
                    <a:moveTo>
                      <a:pt x="61119" y="122237"/>
                    </a:moveTo>
                    <a:cubicBezTo>
                      <a:pt x="27364" y="122237"/>
                      <a:pt x="0" y="94874"/>
                      <a:pt x="0" y="61119"/>
                    </a:cubicBezTo>
                    <a:cubicBezTo>
                      <a:pt x="0" y="27364"/>
                      <a:pt x="27364" y="0"/>
                      <a:pt x="61119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6375062" y="2776538"/>
                <a:ext cx="122237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235744">
                    <a:moveTo>
                      <a:pt x="0" y="110014"/>
                    </a:moveTo>
                    <a:lnTo>
                      <a:pt x="0" y="61119"/>
                    </a:lnTo>
                    <a:cubicBezTo>
                      <a:pt x="0" y="27364"/>
                      <a:pt x="27364" y="0"/>
                      <a:pt x="61119" y="0"/>
                    </a:cubicBezTo>
                    <a:cubicBezTo>
                      <a:pt x="94874" y="0"/>
                      <a:pt x="122237" y="27364"/>
                      <a:pt x="122237" y="61119"/>
                    </a:cubicBezTo>
                    <a:lnTo>
                      <a:pt x="122237" y="235744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2439396" y="2743200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rtl="1"/>
              <a:r>
                <a:rPr lang="fa" sz="2550" b="1" dirty="0">
                  <a:solidFill>
                    <a:srgbClr val="A855F7">
                      <a:alphaMod val="40000"/>
                    </a:srgbClr>
                  </a:solidFill>
                  <a:latin typeface="Yekan Bakh"/>
                  <a:ea typeface="Yekan Bakh"/>
                  <a:cs typeface="Yekan Bakh"/>
                </a:rPr>
                <a:t>۱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4221574" y="3651250"/>
              <a:ext cx="26483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210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شبکه‌های عصبی عمیق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16735425" y="44100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4001369" y="4346575"/>
              <a:ext cx="2579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مدل‌های ترنسفورمر چندوجهی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16735425" y="48672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3940790" y="48037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پردازش زبان طبیعی پیشرفته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16735425" y="53244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3425868" y="5260975"/>
              <a:ext cx="315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تولید تصاویر و مدیا با دقت بالا</a:t>
              </a:r>
            </a:p>
          </p:txBody>
        </p:sp>
      </p:grpSp>
      <p:grpSp>
        <p:nvGrpSpPr>
          <p:cNvPr id="98" name="card_2"/>
          <p:cNvGrpSpPr/>
          <p:nvPr/>
        </p:nvGrpSpPr>
        <p:grpSpPr>
          <a:xfrm>
            <a:off x="6559550" y="2190750"/>
            <a:ext cx="5168900" cy="6762750"/>
            <a:chOff x="6559550" y="2190750"/>
            <a:chExt cx="5168900" cy="6762750"/>
          </a:xfrm>
        </p:grpSpPr>
        <p:sp>
          <p:nvSpPr>
            <p:cNvPr id="75" name="Rectangle 75"/>
            <p:cNvSpPr/>
            <p:nvPr/>
          </p:nvSpPr>
          <p:spPr>
            <a:xfrm>
              <a:off x="6559550" y="2190750"/>
              <a:ext cx="5168900" cy="6762750"/>
            </a:xfrm>
            <a:prstGeom prst="roundRect">
              <a:avLst>
                <a:gd name="adj" fmla="val 4791"/>
              </a:avLst>
            </a:prstGeom>
            <a:solidFill>
              <a:srgbClr val="10182F"/>
            </a:solidFill>
            <a:ln w="23812">
              <a:solidFill>
                <a:srgbClr val="2563EB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845300" y="2190750"/>
              <a:ext cx="4597400" cy="47625"/>
            </a:xfrm>
            <a:prstGeom prst="roundRect">
              <a:avLst>
                <a:gd name="adj" fmla="val 50000"/>
              </a:avLst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585450" y="2533650"/>
              <a:ext cx="800100" cy="800100"/>
            </a:xfrm>
            <a:prstGeom prst="roundRect">
              <a:avLst>
                <a:gd name="adj" fmla="val 28571"/>
              </a:avLst>
            </a:prstGeom>
            <a:noFill/>
            <a:ln w="14288">
              <a:solidFill>
                <a:srgbClr val="00F0FF">
                  <a:alpha val="30000"/>
                </a:srgbClr>
              </a:solidFill>
              <a:custDash>
                <a:ds d="400000" sp="266667"/>
              </a:custDash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623550" y="2571750"/>
              <a:ext cx="723900" cy="723900"/>
            </a:xfrm>
            <a:prstGeom prst="roundRect">
              <a:avLst>
                <a:gd name="adj" fmla="val 28947"/>
              </a:avLst>
            </a:prstGeom>
            <a:solidFill>
              <a:srgbClr val="132147"/>
            </a:solidFill>
            <a:ln w="23812">
              <a:solidFill>
                <a:srgbClr val="00F0FF"/>
              </a:solidFill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10828338" y="2776538"/>
              <a:ext cx="314325" cy="314325"/>
              <a:chOff x="10828338" y="2776538"/>
              <a:chExt cx="314325" cy="3143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10863263" y="2811462"/>
                <a:ext cx="2444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44475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227012" y="0"/>
                    </a:lnTo>
                    <a:cubicBezTo>
                      <a:pt x="236657" y="0"/>
                      <a:pt x="244475" y="7818"/>
                      <a:pt x="244475" y="17462"/>
                    </a:cubicBezTo>
                    <a:lnTo>
                      <a:pt x="244475" y="227012"/>
                    </a:lnTo>
                    <a:cubicBezTo>
                      <a:pt x="244475" y="236657"/>
                      <a:pt x="236657" y="244475"/>
                      <a:pt x="227012" y="244475"/>
                    </a:cubicBezTo>
                    <a:lnTo>
                      <a:pt x="17462" y="244475"/>
                    </a:lnTo>
                    <a:cubicBezTo>
                      <a:pt x="7818" y="244475"/>
                      <a:pt x="0" y="236657"/>
                      <a:pt x="0" y="227012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0933113" y="2881312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04775"/>
                    </a:lnTo>
                    <a:lnTo>
                      <a:pt x="0" y="104775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0828338" y="289877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0828338" y="296862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10950575" y="2776538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1020425" y="2776538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1107738" y="289877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34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1107738" y="2968625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34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1020425" y="3055938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0950575" y="3055938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927596" y="2743200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rtl="1"/>
              <a:r>
                <a:rPr lang="fa" sz="2550" b="1" dirty="0">
                  <a:solidFill>
                    <a:srgbClr val="A855F7">
                      <a:alphaMod val="40000"/>
                    </a:srgbClr>
                  </a:solidFill>
                  <a:latin typeface="Yekan Bakh"/>
                  <a:ea typeface="Yekan Bakh"/>
                  <a:cs typeface="Yekan Bakh"/>
                </a:rPr>
                <a:t>۲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893472" y="3651250"/>
              <a:ext cx="34646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210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زیرساخت ابری مقیاس‌پذیر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11223625" y="44100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216392" y="4346575"/>
              <a:ext cx="2852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کلاسترهای پردازش GPU و TPU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11223625" y="48672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711692" y="4803775"/>
              <a:ext cx="2357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سیستم‌های توزیع‌شده داده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11223625" y="53244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749500" y="5260975"/>
              <a:ext cx="3319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پایپ‌لاین‌های بلادرنگ (Real-time)</a:t>
              </a:r>
            </a:p>
          </p:txBody>
        </p:sp>
      </p:grpSp>
      <p:grpSp>
        <p:nvGrpSpPr>
          <p:cNvPr id="114" name="card_3"/>
          <p:cNvGrpSpPr/>
          <p:nvPr/>
        </p:nvGrpSpPr>
        <p:grpSpPr>
          <a:xfrm>
            <a:off x="1047750" y="2190750"/>
            <a:ext cx="5168900" cy="6762750"/>
            <a:chOff x="1047750" y="2190750"/>
            <a:chExt cx="5168900" cy="6762750"/>
          </a:xfrm>
        </p:grpSpPr>
        <p:sp>
          <p:nvSpPr>
            <p:cNvPr id="99" name="Rectangle 99"/>
            <p:cNvSpPr/>
            <p:nvPr/>
          </p:nvSpPr>
          <p:spPr>
            <a:xfrm>
              <a:off x="1047750" y="2190750"/>
              <a:ext cx="5168900" cy="6762750"/>
            </a:xfrm>
            <a:prstGeom prst="roundRect">
              <a:avLst>
                <a:gd name="adj" fmla="val 4791"/>
              </a:avLst>
            </a:prstGeom>
            <a:solidFill>
              <a:srgbClr val="10182F"/>
            </a:solidFill>
            <a:ln w="23812">
              <a:solidFill>
                <a:srgbClr val="2563EB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1333500" y="2190750"/>
              <a:ext cx="4597400" cy="47625"/>
            </a:xfrm>
            <a:prstGeom prst="roundRect">
              <a:avLst>
                <a:gd name="adj" fmla="val 50000"/>
              </a:avLst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5073650" y="2533650"/>
              <a:ext cx="800100" cy="800100"/>
            </a:xfrm>
            <a:prstGeom prst="roundRect">
              <a:avLst>
                <a:gd name="adj" fmla="val 28571"/>
              </a:avLst>
            </a:prstGeom>
            <a:noFill/>
            <a:ln w="14288">
              <a:solidFill>
                <a:srgbClr val="00F0FF">
                  <a:alpha val="30000"/>
                </a:srgbClr>
              </a:solidFill>
              <a:custDash>
                <a:ds d="400000" sp="266667"/>
              </a:custDash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111750" y="2571750"/>
              <a:ext cx="723900" cy="723900"/>
            </a:xfrm>
            <a:prstGeom prst="roundRect">
              <a:avLst>
                <a:gd name="adj" fmla="val 28947"/>
              </a:avLst>
            </a:prstGeom>
            <a:solidFill>
              <a:srgbClr val="132147"/>
            </a:solidFill>
            <a:ln w="23812">
              <a:solidFill>
                <a:srgbClr val="00F0FF"/>
              </a:solidFill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5292971" y="2776538"/>
              <a:ext cx="341012" cy="314324"/>
              <a:chOff x="5292971" y="2776538"/>
              <a:chExt cx="341012" cy="314324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5292971" y="2776538"/>
                <a:ext cx="341012" cy="311636"/>
              </a:xfrm>
              <a:custGeom>
                <a:avLst/>
                <a:gdLst/>
                <a:ahLst/>
                <a:cxnLst/>
                <a:rect l="l" t="t" r="r" b="b"/>
                <a:pathLst>
                  <a:path w="341012" h="311636">
                    <a:moveTo>
                      <a:pt x="171299" y="311636"/>
                    </a:moveTo>
                    <a:cubicBezTo>
                      <a:pt x="61905" y="277726"/>
                      <a:pt x="0" y="162269"/>
                      <a:pt x="32298" y="52388"/>
                    </a:cubicBezTo>
                    <a:cubicBezTo>
                      <a:pt x="86703" y="54877"/>
                      <a:pt x="139940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8"/>
                    </a:cubicBezTo>
                    <a:cubicBezTo>
                      <a:pt x="341012" y="92710"/>
                      <a:pt x="340464" y="135665"/>
                      <a:pt x="327589" y="175673"/>
                    </a:cubicBez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5526088" y="302101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 cap="rnd">
                <a:solidFill>
                  <a:srgbClr val="00F0FF"/>
                </a:solidFill>
                <a:round/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1415796" y="2743200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rtl="1"/>
              <a:r>
                <a:rPr lang="fa" sz="2550" b="1" dirty="0">
                  <a:solidFill>
                    <a:srgbClr val="A855F7">
                      <a:alphaMod val="40000"/>
                    </a:srgbClr>
                  </a:solidFill>
                  <a:latin typeface="Yekan Bakh"/>
                  <a:ea typeface="Yekan Bakh"/>
                  <a:cs typeface="Yekan Bakh"/>
                </a:rPr>
                <a:t>۳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108923" y="3651250"/>
              <a:ext cx="27373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210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امنیت و حریم خصوصی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5711825" y="44100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3088830" y="434657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رمزنگاری سرتاسری داده‌ها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5711825" y="48672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2584005" y="4803775"/>
              <a:ext cx="2973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انطباق با استانداردهای جهانی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5711825" y="5324475"/>
              <a:ext cx="95250" cy="95250"/>
            </a:xfrm>
            <a:prstGeom prst="ellipse">
              <a:avLst/>
            </a:prstGeom>
            <a:solidFill>
              <a:srgbClr val="A855F7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2523426" y="5260975"/>
              <a:ext cx="303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حفاظت از اطلاعات حساس کاربران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4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g_ambient_waves"/>
          <p:cNvGrpSpPr/>
          <p:nvPr/>
        </p:nvGrpSpPr>
        <p:grpSpPr>
          <a:xfrm>
            <a:off x="0" y="5969000"/>
            <a:ext cx="18288000" cy="4318000"/>
            <a:chOff x="0" y="5969000"/>
            <a:chExt cx="18288000" cy="4318000"/>
          </a:xfrm>
        </p:grpSpPr>
        <p:sp>
          <p:nvSpPr>
            <p:cNvPr id="2" name="Freeform 2"/>
            <p:cNvSpPr/>
            <p:nvPr/>
          </p:nvSpPr>
          <p:spPr>
            <a:xfrm>
              <a:off x="0" y="5969000"/>
              <a:ext cx="18288000" cy="4318000"/>
            </a:xfrm>
            <a:custGeom>
              <a:avLst/>
              <a:gdLst/>
              <a:ahLst/>
              <a:cxnLst/>
              <a:rect l="l" t="t" r="r" b="b"/>
              <a:pathLst>
                <a:path w="18288000" h="4318000">
                  <a:moveTo>
                    <a:pt x="0" y="889000"/>
                  </a:moveTo>
                  <a:cubicBezTo>
                    <a:pt x="3048000" y="0"/>
                    <a:pt x="6096000" y="127000"/>
                    <a:pt x="9144000" y="1270000"/>
                  </a:cubicBezTo>
                  <a:cubicBezTo>
                    <a:pt x="12192000" y="2413000"/>
                    <a:pt x="15240000" y="2159000"/>
                    <a:pt x="18288000" y="508000"/>
                  </a:cubicBezTo>
                  <a:lnTo>
                    <a:pt x="18288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0E1E45">
                <a:alpha val="60000"/>
              </a:srgbClr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7366000"/>
              <a:ext cx="18288000" cy="2921000"/>
            </a:xfrm>
            <a:custGeom>
              <a:avLst/>
              <a:gdLst/>
              <a:ahLst/>
              <a:cxnLst/>
              <a:rect l="l" t="t" r="r" b="b"/>
              <a:pathLst>
                <a:path w="18288000" h="2921000">
                  <a:moveTo>
                    <a:pt x="0" y="635000"/>
                  </a:moveTo>
                  <a:cubicBezTo>
                    <a:pt x="3302000" y="0"/>
                    <a:pt x="6731000" y="190500"/>
                    <a:pt x="10287000" y="1206500"/>
                  </a:cubicBezTo>
                  <a:cubicBezTo>
                    <a:pt x="13843000" y="2222500"/>
                    <a:pt x="16510000" y="1968500"/>
                    <a:pt x="18288000" y="444500"/>
                  </a:cubicBezTo>
                  <a:lnTo>
                    <a:pt x="1828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E1B4B">
                <a:alpha val="85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5969000"/>
              <a:ext cx="18288000" cy="2413000"/>
            </a:xfrm>
            <a:custGeom>
              <a:avLst/>
              <a:gdLst/>
              <a:ahLst/>
              <a:cxnLst/>
              <a:rect l="l" t="t" r="r" b="b"/>
              <a:pathLst>
                <a:path w="18288000" h="2413000">
                  <a:moveTo>
                    <a:pt x="0" y="889000"/>
                  </a:moveTo>
                  <a:cubicBezTo>
                    <a:pt x="3048000" y="0"/>
                    <a:pt x="6096000" y="127000"/>
                    <a:pt x="9144000" y="1270000"/>
                  </a:cubicBezTo>
                  <a:cubicBezTo>
                    <a:pt x="12192000" y="2413000"/>
                    <a:pt x="15240000" y="2159000"/>
                    <a:pt x="18288000" y="508000"/>
                  </a:cubicBezTo>
                </a:path>
              </a:pathLst>
            </a:custGeom>
            <a:noFill/>
            <a:ln w="28575">
              <a:solidFill>
                <a:srgbClr val="00F0FF">
                  <a:alpha val="45000"/>
                </a:srgbClr>
              </a:solidFill>
            </a:ln>
          </p:spPr>
        </p:sp>
      </p:grpSp>
      <p:grpSp>
        <p:nvGrpSpPr>
          <p:cNvPr id="51" name="bg_geometric_accents"/>
          <p:cNvGrpSpPr/>
          <p:nvPr/>
        </p:nvGrpSpPr>
        <p:grpSpPr>
          <a:xfrm>
            <a:off x="0" y="0"/>
            <a:ext cx="20955000" cy="12763500"/>
            <a:chOff x="0" y="0"/>
            <a:chExt cx="20955000" cy="12763500"/>
          </a:xfrm>
        </p:grpSpPr>
        <p:sp>
          <p:nvSpPr>
            <p:cNvPr id="6" name="Ellipse 6"/>
            <p:cNvSpPr/>
            <p:nvPr/>
          </p:nvSpPr>
          <p:spPr>
            <a:xfrm>
              <a:off x="14859000" y="6667500"/>
              <a:ext cx="4953000" cy="4953000"/>
            </a:xfrm>
            <a:prstGeom prst="ellipse">
              <a:avLst/>
            </a:prstGeom>
            <a:noFill/>
            <a:ln w="19050">
              <a:solidFill>
                <a:srgbClr val="00F0FF">
                  <a:alpha val="20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7" name="Ellipse 7"/>
            <p:cNvSpPr/>
            <p:nvPr/>
          </p:nvSpPr>
          <p:spPr>
            <a:xfrm>
              <a:off x="15621000" y="7429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A855F7">
                  <a:alpha val="2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716000" y="5524500"/>
              <a:ext cx="7239000" cy="7239000"/>
            </a:xfrm>
            <a:prstGeom prst="ellipse">
              <a:avLst/>
            </a:prstGeom>
            <a:noFill/>
            <a:ln w="9525">
              <a:solidFill>
                <a:srgbClr val="EC4899">
                  <a:alpha val="12000"/>
                </a:srgbClr>
              </a:solidFill>
              <a:custDash>
                <a:ds d="600000" sp="1400000"/>
              </a:custDash>
            </a:ln>
          </p:spPr>
        </p:sp>
        <p:sp>
          <p:nvSpPr>
            <p:cNvPr id="9" name="Polygon 9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00F0FF">
                <a:alpha val="8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619250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2095500" y="0"/>
                  </a:moveTo>
                  <a:lnTo>
                    <a:pt x="0" y="0"/>
                  </a:lnTo>
                  <a:lnTo>
                    <a:pt x="2095500" y="2095500"/>
                  </a:lnTo>
                  <a:close/>
                </a:path>
              </a:pathLst>
            </a:custGeom>
            <a:solidFill>
              <a:srgbClr val="A855F7">
                <a:alpha val="8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76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572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67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763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3858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5954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8049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145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476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572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667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763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3858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5954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8049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145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476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572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667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63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3858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5954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8049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0145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476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572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667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763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3858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954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8049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0145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476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572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667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763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3858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954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8049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0145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</p:grpSp>
      <p:grpSp>
        <p:nvGrpSpPr>
          <p:cNvPr id="54" name="header_group"/>
          <p:cNvGrpSpPr/>
          <p:nvPr/>
        </p:nvGrpSpPr>
        <p:grpSpPr>
          <a:xfrm>
            <a:off x="7687292" y="822325"/>
            <a:ext cx="9475996" cy="1008888"/>
            <a:chOff x="7687292" y="822325"/>
            <a:chExt cx="9475996" cy="1008888"/>
          </a:xfrm>
        </p:grpSpPr>
        <p:sp>
          <p:nvSpPr>
            <p:cNvPr id="52" name="TextBox 52"/>
            <p:cNvSpPr txBox="1"/>
            <p:nvPr/>
          </p:nvSpPr>
          <p:spPr>
            <a:xfrm>
              <a:off x="15144331" y="822325"/>
              <a:ext cx="2008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  <a:rtl val="1"/>
                </a:rPr>
                <a:t>نقشه راه پیاده‌سازی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87292" y="1127125"/>
              <a:ext cx="94759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360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مراحل گام‌به‌گام استقرار مدل در سازمان</a:t>
              </a:r>
            </a:p>
          </p:txBody>
        </p:sp>
      </p:grpSp>
      <p:sp>
        <p:nvSpPr>
          <p:cNvPr id="55" name="Line 55"/>
          <p:cNvSpPr/>
          <p:nvPr/>
        </p:nvSpPr>
        <p:spPr>
          <a:xfrm>
            <a:off x="1619250" y="2476500"/>
            <a:ext cx="15049500" cy="9525"/>
          </a:xfrm>
          <a:custGeom>
            <a:avLst/>
            <a:gdLst/>
            <a:ahLst/>
            <a:cxnLst/>
            <a:rect l="l" t="t" r="r" b="b"/>
            <a:pathLst>
              <a:path w="15049500" h="9525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47625">
            <a:solidFill>
              <a:srgbClr val="2563EB"/>
            </a:solidFill>
            <a:custDash>
              <a:ds d="240000" sp="160000"/>
            </a:custDash>
          </a:ln>
        </p:spPr>
      </p:sp>
      <p:sp>
        <p:nvSpPr>
          <p:cNvPr id="56" name="Line 56"/>
          <p:cNvSpPr/>
          <p:nvPr/>
        </p:nvSpPr>
        <p:spPr>
          <a:xfrm>
            <a:off x="1619250" y="2476500"/>
            <a:ext cx="15049500" cy="9525"/>
          </a:xfrm>
          <a:custGeom>
            <a:avLst/>
            <a:gdLst/>
            <a:ahLst/>
            <a:cxnLst/>
            <a:rect l="l" t="t" r="r" b="b"/>
            <a:pathLst>
              <a:path w="15049500" h="9525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00F0FF">
                <a:alpha val="80000"/>
              </a:srgbClr>
            </a:solidFill>
          </a:ln>
        </p:spPr>
      </p:sp>
      <p:grpSp>
        <p:nvGrpSpPr>
          <p:cNvPr id="73" name="step_1"/>
          <p:cNvGrpSpPr/>
          <p:nvPr/>
        </p:nvGrpSpPr>
        <p:grpSpPr>
          <a:xfrm>
            <a:off x="12071350" y="2076450"/>
            <a:ext cx="5168900" cy="6686550"/>
            <a:chOff x="12071350" y="2076450"/>
            <a:chExt cx="5168900" cy="6686550"/>
          </a:xfrm>
        </p:grpSpPr>
        <p:sp>
          <p:nvSpPr>
            <p:cNvPr id="57" name="Ellipse 57"/>
            <p:cNvSpPr/>
            <p:nvPr/>
          </p:nvSpPr>
          <p:spPr>
            <a:xfrm>
              <a:off x="14331950" y="2152650"/>
              <a:ext cx="647700" cy="647700"/>
            </a:xfrm>
            <a:prstGeom prst="ellipse">
              <a:avLst/>
            </a:prstGeom>
            <a:solidFill>
              <a:srgbClr val="070B19"/>
            </a:solidFill>
            <a:ln w="33338">
              <a:solidFill>
                <a:srgbClr val="00F0FF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4255750" y="2076450"/>
              <a:ext cx="800100" cy="800100"/>
            </a:xfrm>
            <a:prstGeom prst="ellipse">
              <a:avLst/>
            </a:prstGeom>
            <a:noFill/>
            <a:ln w="14288">
              <a:solidFill>
                <a:srgbClr val="00F0FF">
                  <a:alpha val="35000"/>
                </a:srgbClr>
              </a:solidFill>
              <a:prstDash val="dash"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4576687" y="23558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8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</a:rPr>
                <a:t>۱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2071350" y="2952750"/>
              <a:ext cx="5168900" cy="5810250"/>
            </a:xfrm>
            <a:prstGeom prst="roundRect">
              <a:avLst>
                <a:gd name="adj" fmla="val 4791"/>
              </a:avLst>
            </a:prstGeom>
            <a:solidFill>
              <a:srgbClr val="10182F"/>
            </a:solidFill>
            <a:ln w="19050">
              <a:solidFill>
                <a:srgbClr val="2563EB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4331950" y="3333750"/>
              <a:ext cx="647700" cy="647700"/>
            </a:xfrm>
            <a:prstGeom prst="roundRect">
              <a:avLst>
                <a:gd name="adj" fmla="val 29412"/>
              </a:avLst>
            </a:prstGeom>
            <a:solidFill>
              <a:srgbClr val="132147"/>
            </a:solidFill>
            <a:ln w="19050">
              <a:solidFill>
                <a:srgbClr val="A855F7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14528800" y="3514725"/>
              <a:ext cx="254000" cy="285750"/>
              <a:chOff x="14528800" y="3514725"/>
              <a:chExt cx="254000" cy="28575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4528800" y="351472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4528800" y="35623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4528800" y="36576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3315958" y="4378325"/>
              <a:ext cx="26796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9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یکپارچه‌سازی داده‌ها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16802100" y="514350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262514" y="5060950"/>
              <a:ext cx="23944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جمع‌آوری و پاک‌سازی داده‌ها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16802100" y="554355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4319862" y="5461000"/>
              <a:ext cx="23370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اعتبارسنجی خطاهای ورودی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16802100" y="594360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4262514" y="5861050"/>
              <a:ext cx="23944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ایجاد خطوط انتقال خودکار</a:t>
              </a:r>
            </a:p>
          </p:txBody>
        </p:sp>
      </p:grpSp>
      <p:grpSp>
        <p:nvGrpSpPr>
          <p:cNvPr id="90" name="step_2"/>
          <p:cNvGrpSpPr/>
          <p:nvPr/>
        </p:nvGrpSpPr>
        <p:grpSpPr>
          <a:xfrm>
            <a:off x="6559550" y="2076450"/>
            <a:ext cx="5168900" cy="6686550"/>
            <a:chOff x="6559550" y="2076450"/>
            <a:chExt cx="5168900" cy="6686550"/>
          </a:xfrm>
        </p:grpSpPr>
        <p:sp>
          <p:nvSpPr>
            <p:cNvPr id="74" name="Ellipse 74"/>
            <p:cNvSpPr/>
            <p:nvPr/>
          </p:nvSpPr>
          <p:spPr>
            <a:xfrm>
              <a:off x="8820150" y="2152650"/>
              <a:ext cx="647700" cy="647700"/>
            </a:xfrm>
            <a:prstGeom prst="ellipse">
              <a:avLst/>
            </a:prstGeom>
            <a:solidFill>
              <a:srgbClr val="070B19"/>
            </a:solidFill>
            <a:ln w="33338">
              <a:solidFill>
                <a:srgbClr val="00F0FF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8743950" y="2076450"/>
              <a:ext cx="800100" cy="800100"/>
            </a:xfrm>
            <a:prstGeom prst="ellipse">
              <a:avLst/>
            </a:prstGeom>
            <a:noFill/>
            <a:ln w="14288">
              <a:solidFill>
                <a:srgbClr val="00F0FF">
                  <a:alpha val="35000"/>
                </a:srgbClr>
              </a:solidFill>
              <a:prstDash val="dash"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064887" y="23558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8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</a:rPr>
                <a:t>۲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559550" y="2952750"/>
              <a:ext cx="5168900" cy="5810250"/>
            </a:xfrm>
            <a:prstGeom prst="roundRect">
              <a:avLst>
                <a:gd name="adj" fmla="val 4791"/>
              </a:avLst>
            </a:prstGeom>
            <a:solidFill>
              <a:srgbClr val="10182F"/>
            </a:solidFill>
            <a:ln w="19050">
              <a:solidFill>
                <a:srgbClr val="2563EB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820150" y="3333750"/>
              <a:ext cx="647700" cy="647700"/>
            </a:xfrm>
            <a:prstGeom prst="roundRect">
              <a:avLst>
                <a:gd name="adj" fmla="val 29412"/>
              </a:avLst>
            </a:prstGeom>
            <a:solidFill>
              <a:srgbClr val="132147"/>
            </a:solidFill>
            <a:ln w="19050">
              <a:solidFill>
                <a:srgbClr val="A855F7"/>
              </a:solidFill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9011986" y="3530600"/>
              <a:ext cx="259014" cy="259014"/>
              <a:chOff x="9011986" y="3530600"/>
              <a:chExt cx="259014" cy="259014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9017000" y="3530600"/>
                <a:ext cx="2540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54000">
                    <a:moveTo>
                      <a:pt x="0" y="142875"/>
                    </a:moveTo>
                    <a:cubicBezTo>
                      <a:pt x="58264" y="149799"/>
                      <a:pt x="104201" y="195736"/>
                      <a:pt x="111125" y="254000"/>
                    </a:cubicBezTo>
                    <a:cubicBezTo>
                      <a:pt x="139653" y="237553"/>
                      <a:pt x="157663" y="207537"/>
                      <a:pt x="158750" y="174625"/>
                    </a:cubicBezTo>
                    <a:cubicBezTo>
                      <a:pt x="213261" y="155449"/>
                      <a:pt x="250854" y="105325"/>
                      <a:pt x="254000" y="47625"/>
                    </a:cubicBezTo>
                    <a:cubicBezTo>
                      <a:pt x="254000" y="21322"/>
                      <a:pt x="232678" y="0"/>
                      <a:pt x="206375" y="0"/>
                    </a:cubicBezTo>
                    <a:cubicBezTo>
                      <a:pt x="148675" y="3146"/>
                      <a:pt x="98551" y="40739"/>
                      <a:pt x="79375" y="95250"/>
                    </a:cubicBezTo>
                    <a:cubicBezTo>
                      <a:pt x="46463" y="96337"/>
                      <a:pt x="16447" y="114347"/>
                      <a:pt x="0" y="142875"/>
                    </a:cubicBez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9011986" y="3689350"/>
                <a:ext cx="100264" cy="100264"/>
              </a:xfrm>
              <a:custGeom>
                <a:avLst/>
                <a:gdLst/>
                <a:ahLst/>
                <a:cxnLst/>
                <a:rect l="l" t="t" r="r" b="b"/>
                <a:pathLst>
                  <a:path w="100264" h="100264">
                    <a:moveTo>
                      <a:pt x="52639" y="0"/>
                    </a:moveTo>
                    <a:cubicBezTo>
                      <a:pt x="18840" y="19081"/>
                      <a:pt x="0" y="56762"/>
                      <a:pt x="5014" y="95250"/>
                    </a:cubicBezTo>
                    <a:cubicBezTo>
                      <a:pt x="43502" y="100264"/>
                      <a:pt x="81183" y="81424"/>
                      <a:pt x="100264" y="47625"/>
                    </a:cubicBez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175750" y="35941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7914412" y="4378325"/>
              <a:ext cx="24591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9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آموزش و بهینه‌سازی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11290300" y="514350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597786" y="5060950"/>
              <a:ext cx="2547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تنظیم دقیق هایپرپارامترها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11290300" y="554355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33227" y="5461000"/>
              <a:ext cx="28119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آزمایش بر روی کلاسترهای GPU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11290300" y="594360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377951" y="5861050"/>
              <a:ext cx="27671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ارزیابی معیارهای دقت و اتلاف</a:t>
              </a:r>
            </a:p>
          </p:txBody>
        </p:sp>
      </p:grpSp>
      <p:grpSp>
        <p:nvGrpSpPr>
          <p:cNvPr id="108" name="step_3"/>
          <p:cNvGrpSpPr/>
          <p:nvPr/>
        </p:nvGrpSpPr>
        <p:grpSpPr>
          <a:xfrm>
            <a:off x="1047750" y="2076450"/>
            <a:ext cx="5168900" cy="6686550"/>
            <a:chOff x="1047750" y="2076450"/>
            <a:chExt cx="5168900" cy="6686550"/>
          </a:xfrm>
        </p:grpSpPr>
        <p:sp>
          <p:nvSpPr>
            <p:cNvPr id="91" name="Ellipse 91"/>
            <p:cNvSpPr/>
            <p:nvPr/>
          </p:nvSpPr>
          <p:spPr>
            <a:xfrm>
              <a:off x="3308350" y="2152650"/>
              <a:ext cx="647700" cy="647700"/>
            </a:xfrm>
            <a:prstGeom prst="ellipse">
              <a:avLst/>
            </a:prstGeom>
            <a:solidFill>
              <a:srgbClr val="070B19"/>
            </a:solidFill>
            <a:ln w="33338">
              <a:solidFill>
                <a:srgbClr val="00F0FF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3232150" y="2076450"/>
              <a:ext cx="800100" cy="800100"/>
            </a:xfrm>
            <a:prstGeom prst="ellipse">
              <a:avLst/>
            </a:prstGeom>
            <a:noFill/>
            <a:ln w="14288">
              <a:solidFill>
                <a:srgbClr val="00F0FF">
                  <a:alpha val="35000"/>
                </a:srgbClr>
              </a:solidFill>
              <a:prstDash val="dash"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553087" y="23558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8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</a:rPr>
                <a:t>۳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047750" y="2952750"/>
              <a:ext cx="5168900" cy="5810250"/>
            </a:xfrm>
            <a:prstGeom prst="roundRect">
              <a:avLst>
                <a:gd name="adj" fmla="val 4791"/>
              </a:avLst>
            </a:prstGeom>
            <a:solidFill>
              <a:srgbClr val="10182F"/>
            </a:solidFill>
            <a:ln w="19050">
              <a:solidFill>
                <a:srgbClr val="2563EB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3308350" y="3333750"/>
              <a:ext cx="647700" cy="647700"/>
            </a:xfrm>
            <a:prstGeom prst="roundRect">
              <a:avLst>
                <a:gd name="adj" fmla="val 29412"/>
              </a:avLst>
            </a:prstGeom>
            <a:solidFill>
              <a:srgbClr val="132147"/>
            </a:solidFill>
            <a:ln w="19050">
              <a:solidFill>
                <a:srgbClr val="A855F7"/>
              </a:solidFill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3489325" y="3514725"/>
              <a:ext cx="285750" cy="285750"/>
              <a:chOff x="3489325" y="3514725"/>
              <a:chExt cx="285750" cy="28575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3489325" y="35147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3616325" y="36417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3654584" y="3594100"/>
                <a:ext cx="41116" cy="41116"/>
              </a:xfrm>
              <a:custGeom>
                <a:avLst/>
                <a:gdLst/>
                <a:ahLst/>
                <a:cxnLst/>
                <a:rect l="l" t="t" r="r" b="b"/>
                <a:pathLst>
                  <a:path w="41116" h="41116">
                    <a:moveTo>
                      <a:pt x="0" y="41116"/>
                    </a:moveTo>
                    <a:lnTo>
                      <a:pt x="41116" y="0"/>
                    </a:ln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3552825" y="35782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79375"/>
                    </a:moveTo>
                    <a:cubicBezTo>
                      <a:pt x="0" y="35537"/>
                      <a:pt x="35537" y="0"/>
                      <a:pt x="79375" y="0"/>
                    </a:cubicBezTo>
                  </a:path>
                </a:pathLst>
              </a:custGeom>
              <a:noFill/>
              <a:ln w="31750" cap="rnd">
                <a:solidFill>
                  <a:srgbClr val="A855F7"/>
                </a:solidFill>
                <a:round/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2285467" y="4378325"/>
              <a:ext cx="26934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9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پایش و پایش بلادرنگ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5778500" y="514350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3238914" y="5060950"/>
              <a:ext cx="23944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پایش مداوم شاخص‌های تاخیر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5778500" y="554355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3296262" y="5461000"/>
              <a:ext cx="23370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به‌روزرسانی خودکار مدل‌ها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5778500" y="5943600"/>
              <a:ext cx="76200" cy="76200"/>
            </a:xfrm>
            <a:prstGeom prst="ellipse">
              <a:avLst/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133776" y="5861050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42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پاسخگویی با پایداری ۹۹.۹٪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g_ambient_waves"/>
          <p:cNvGrpSpPr/>
          <p:nvPr/>
        </p:nvGrpSpPr>
        <p:grpSpPr>
          <a:xfrm>
            <a:off x="0" y="4953000"/>
            <a:ext cx="18288000" cy="5334000"/>
            <a:chOff x="0" y="4953000"/>
            <a:chExt cx="18288000" cy="5334000"/>
          </a:xfrm>
        </p:grpSpPr>
        <p:sp>
          <p:nvSpPr>
            <p:cNvPr id="2" name="Freeform 2"/>
            <p:cNvSpPr/>
            <p:nvPr/>
          </p:nvSpPr>
          <p:spPr>
            <a:xfrm>
              <a:off x="0" y="4953000"/>
              <a:ext cx="18288000" cy="5334000"/>
            </a:xfrm>
            <a:custGeom>
              <a:avLst/>
              <a:gdLst/>
              <a:ahLst/>
              <a:cxnLst/>
              <a:rect l="l" t="t" r="r" b="b"/>
              <a:pathLst>
                <a:path w="18288000" h="5334000">
                  <a:moveTo>
                    <a:pt x="0" y="1333500"/>
                  </a:moveTo>
                  <a:cubicBezTo>
                    <a:pt x="3556000" y="2349500"/>
                    <a:pt x="7048500" y="2286000"/>
                    <a:pt x="10477500" y="1143000"/>
                  </a:cubicBezTo>
                  <a:cubicBezTo>
                    <a:pt x="13906500" y="0"/>
                    <a:pt x="16510000" y="317500"/>
                    <a:pt x="18288000" y="2095500"/>
                  </a:cubicBezTo>
                  <a:lnTo>
                    <a:pt x="18288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0E1E45">
                <a:alpha val="60000"/>
              </a:srgbClr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6540500"/>
              <a:ext cx="18288000" cy="3746500"/>
            </a:xfrm>
            <a:custGeom>
              <a:avLst/>
              <a:gdLst/>
              <a:ahLst/>
              <a:cxnLst/>
              <a:rect l="l" t="t" r="r" b="b"/>
              <a:pathLst>
                <a:path w="18288000" h="3746500">
                  <a:moveTo>
                    <a:pt x="0" y="1079500"/>
                  </a:moveTo>
                  <a:cubicBezTo>
                    <a:pt x="2794000" y="1841500"/>
                    <a:pt x="6032500" y="1778000"/>
                    <a:pt x="9715500" y="889000"/>
                  </a:cubicBezTo>
                  <a:cubicBezTo>
                    <a:pt x="13398500" y="0"/>
                    <a:pt x="16256000" y="254000"/>
                    <a:pt x="18288000" y="1651000"/>
                  </a:cubicBezTo>
                  <a:lnTo>
                    <a:pt x="18288000" y="3746500"/>
                  </a:lnTo>
                  <a:lnTo>
                    <a:pt x="0" y="3746500"/>
                  </a:lnTo>
                  <a:close/>
                </a:path>
              </a:pathLst>
            </a:custGeom>
            <a:solidFill>
              <a:srgbClr val="1E1B4B">
                <a:alpha val="85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4953000"/>
              <a:ext cx="18288000" cy="2349500"/>
            </a:xfrm>
            <a:custGeom>
              <a:avLst/>
              <a:gdLst/>
              <a:ahLst/>
              <a:cxnLst/>
              <a:rect l="l" t="t" r="r" b="b"/>
              <a:pathLst>
                <a:path w="18288000" h="2349500">
                  <a:moveTo>
                    <a:pt x="0" y="1333500"/>
                  </a:moveTo>
                  <a:cubicBezTo>
                    <a:pt x="3556000" y="2349500"/>
                    <a:pt x="7048500" y="2286000"/>
                    <a:pt x="10477500" y="1143000"/>
                  </a:cubicBezTo>
                  <a:cubicBezTo>
                    <a:pt x="13906500" y="0"/>
                    <a:pt x="16510000" y="317500"/>
                    <a:pt x="18288000" y="2095500"/>
                  </a:cubicBezTo>
                </a:path>
              </a:pathLst>
            </a:custGeom>
            <a:noFill/>
            <a:ln w="28575">
              <a:solidFill>
                <a:srgbClr val="A855F7">
                  <a:alpha val="45000"/>
                </a:srgbClr>
              </a:solidFill>
            </a:ln>
          </p:spPr>
        </p:sp>
      </p:grpSp>
      <p:grpSp>
        <p:nvGrpSpPr>
          <p:cNvPr id="51" name="bg_geometric_accents"/>
          <p:cNvGrpSpPr/>
          <p:nvPr/>
        </p:nvGrpSpPr>
        <p:grpSpPr>
          <a:xfrm>
            <a:off x="0" y="0"/>
            <a:ext cx="20955000" cy="12763500"/>
            <a:chOff x="0" y="0"/>
            <a:chExt cx="20955000" cy="12763500"/>
          </a:xfrm>
        </p:grpSpPr>
        <p:sp>
          <p:nvSpPr>
            <p:cNvPr id="6" name="Ellipse 6"/>
            <p:cNvSpPr/>
            <p:nvPr/>
          </p:nvSpPr>
          <p:spPr>
            <a:xfrm>
              <a:off x="14859000" y="6667500"/>
              <a:ext cx="4953000" cy="4953000"/>
            </a:xfrm>
            <a:prstGeom prst="ellipse">
              <a:avLst/>
            </a:prstGeom>
            <a:noFill/>
            <a:ln w="19050">
              <a:solidFill>
                <a:srgbClr val="00F0FF">
                  <a:alpha val="20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7" name="Ellipse 7"/>
            <p:cNvSpPr/>
            <p:nvPr/>
          </p:nvSpPr>
          <p:spPr>
            <a:xfrm>
              <a:off x="15621000" y="7429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A855F7">
                  <a:alpha val="2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716000" y="5524500"/>
              <a:ext cx="7239000" cy="7239000"/>
            </a:xfrm>
            <a:prstGeom prst="ellipse">
              <a:avLst/>
            </a:prstGeom>
            <a:noFill/>
            <a:ln w="9525">
              <a:solidFill>
                <a:srgbClr val="EC4899">
                  <a:alpha val="12000"/>
                </a:srgbClr>
              </a:solidFill>
              <a:custDash>
                <a:ds d="600000" sp="1400000"/>
              </a:custDash>
            </a:ln>
          </p:spPr>
        </p:sp>
        <p:sp>
          <p:nvSpPr>
            <p:cNvPr id="9" name="Polygon 9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00F0FF">
                <a:alpha val="8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619250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2095500" y="0"/>
                  </a:moveTo>
                  <a:lnTo>
                    <a:pt x="0" y="0"/>
                  </a:lnTo>
                  <a:lnTo>
                    <a:pt x="2095500" y="2095500"/>
                  </a:lnTo>
                  <a:close/>
                </a:path>
              </a:pathLst>
            </a:custGeom>
            <a:solidFill>
              <a:srgbClr val="A855F7">
                <a:alpha val="8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76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572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67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763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3858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5954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8049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145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476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572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667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763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3858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5954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8049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145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476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572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667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63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3858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5954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8049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0145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476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572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667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763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3858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954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8049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0145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476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572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667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763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3858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954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8049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0145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</p:grpSp>
      <p:grpSp>
        <p:nvGrpSpPr>
          <p:cNvPr id="54" name="header_group"/>
          <p:cNvGrpSpPr/>
          <p:nvPr/>
        </p:nvGrpSpPr>
        <p:grpSpPr>
          <a:xfrm>
            <a:off x="9086667" y="822325"/>
            <a:ext cx="8076621" cy="1008888"/>
            <a:chOff x="9086667" y="822325"/>
            <a:chExt cx="8076621" cy="1008888"/>
          </a:xfrm>
        </p:grpSpPr>
        <p:sp>
          <p:nvSpPr>
            <p:cNvPr id="52" name="TextBox 52"/>
            <p:cNvSpPr txBox="1"/>
            <p:nvPr/>
          </p:nvSpPr>
          <p:spPr>
            <a:xfrm>
              <a:off x="14730879" y="822325"/>
              <a:ext cx="242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  <a:rtl val="1"/>
                </a:rPr>
                <a:t>تاثیر و بازدهی عملیاتی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86667" y="1127125"/>
              <a:ext cx="807662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360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جهش شاخص‌های کلیدی پس از استقرار</a:t>
              </a:r>
            </a:p>
          </p:txBody>
        </p:sp>
      </p:grpSp>
      <p:grpSp>
        <p:nvGrpSpPr>
          <p:cNvPr id="58" name="kpi_image"/>
          <p:cNvGrpSpPr/>
          <p:nvPr/>
        </p:nvGrpSpPr>
        <p:grpSpPr>
          <a:xfrm>
            <a:off x="990600" y="2133600"/>
            <a:ext cx="6591300" cy="6781800"/>
            <a:chOff x="990600" y="2133600"/>
            <a:chExt cx="6591300" cy="6781800"/>
          </a:xfrm>
        </p:grpSpPr>
        <p:sp>
          <p:nvSpPr>
            <p:cNvPr id="55" name="Rectangle 55"/>
            <p:cNvSpPr/>
            <p:nvPr/>
          </p:nvSpPr>
          <p:spPr>
            <a:xfrm>
              <a:off x="990600" y="2133600"/>
              <a:ext cx="6591300" cy="6781800"/>
            </a:xfrm>
            <a:prstGeom prst="roundRect">
              <a:avLst>
                <a:gd name="adj" fmla="val 4624"/>
              </a:avLst>
            </a:prstGeom>
            <a:noFill/>
            <a:ln w="19050">
              <a:solidFill>
                <a:srgbClr val="00F0FF">
                  <a:alpha val="35000"/>
                </a:srgbClr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47750" y="2190750"/>
              <a:ext cx="6477000" cy="6667500"/>
            </a:xfrm>
            <a:prstGeom prst="roundRect">
              <a:avLst>
                <a:gd name="adj" fmla="val 4118"/>
              </a:avLst>
            </a:prstGeom>
            <a:solidFill>
              <a:srgbClr val="10182F"/>
            </a:solidFill>
            <a:ln w="23812">
              <a:solidFill>
                <a:srgbClr val="00F0FF"/>
              </a:solidFill>
            </a:ln>
          </p:spPr>
        </p:sp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2"/>
            <a:srcRect l="17647" t="0" r="17647" b="0"/>
            <a:stretch>
              <a:fillRect/>
            </a:stretch>
          </p:blipFill>
          <p:spPr>
            <a:xfrm>
              <a:off x="1143000" y="2286000"/>
              <a:ext cx="6286500" cy="6477000"/>
            </a:xfrm>
            <a:prstGeom prst="rect">
              <a:avLst/>
            </a:prstGeom>
          </p:spPr>
        </p:pic>
      </p:grpSp>
      <p:grpSp>
        <p:nvGrpSpPr>
          <p:cNvPr id="66" name="kpi_1"/>
          <p:cNvGrpSpPr/>
          <p:nvPr/>
        </p:nvGrpSpPr>
        <p:grpSpPr>
          <a:xfrm>
            <a:off x="8001000" y="2190750"/>
            <a:ext cx="9239250" cy="3181350"/>
            <a:chOff x="8001000" y="2190750"/>
            <a:chExt cx="9239250" cy="3181350"/>
          </a:xfrm>
        </p:grpSpPr>
        <p:sp>
          <p:nvSpPr>
            <p:cNvPr id="59" name="Rectangle 59"/>
            <p:cNvSpPr/>
            <p:nvPr/>
          </p:nvSpPr>
          <p:spPr>
            <a:xfrm>
              <a:off x="8001000" y="2190750"/>
              <a:ext cx="9239250" cy="3181350"/>
            </a:xfrm>
            <a:prstGeom prst="roundRect">
              <a:avLst>
                <a:gd name="adj" fmla="val 7784"/>
              </a:avLst>
            </a:prstGeom>
            <a:solidFill>
              <a:srgbClr val="10182F"/>
            </a:solidFill>
            <a:ln w="19050">
              <a:solidFill>
                <a:srgbClr val="2563EB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01000" y="2190750"/>
              <a:ext cx="76200" cy="3181350"/>
            </a:xfrm>
            <a:prstGeom prst="roundRect">
              <a:avLst>
                <a:gd name="adj" fmla="val 50000"/>
              </a:avLst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5017096" y="2365375"/>
              <a:ext cx="167070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525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</a:rPr>
                <a:t>+۸۵٪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477250" y="2571750"/>
              <a:ext cx="1619250" cy="400050"/>
            </a:xfrm>
            <a:prstGeom prst="roundRect">
              <a:avLst>
                <a:gd name="adj" fmla="val 50000"/>
              </a:avLst>
            </a:prstGeom>
            <a:solidFill>
              <a:srgbClr val="132147"/>
            </a:solidFill>
            <a:ln w="19050">
              <a:solidFill>
                <a:srgbClr val="EC4899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678808" y="2676525"/>
              <a:ext cx="12161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280" b="1" dirty="0">
                  <a:solidFill>
                    <a:srgbClr val="EC4899"/>
                  </a:solidFill>
                  <a:latin typeface="Yekan Bakh"/>
                  <a:ea typeface="Yekan Bakh"/>
                  <a:cs typeface="Yekan Bakh"/>
                  <a:rtl val="1"/>
                </a:rPr>
                <a:t>↑ رشد بهره‌وری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3613083" y="3282950"/>
              <a:ext cx="3065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9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افزایش سرعت تصمیم‌گیری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905678" y="3708400"/>
              <a:ext cx="4770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کاهش چشمگیر زمان تحلیل داده‌های بالینی و مهندسی</a:t>
              </a:r>
            </a:p>
          </p:txBody>
        </p:sp>
      </p:grpSp>
      <p:grpSp>
        <p:nvGrpSpPr>
          <p:cNvPr id="74" name="kpi_2"/>
          <p:cNvGrpSpPr/>
          <p:nvPr/>
        </p:nvGrpSpPr>
        <p:grpSpPr>
          <a:xfrm>
            <a:off x="8001000" y="5676900"/>
            <a:ext cx="9239250" cy="3181350"/>
            <a:chOff x="8001000" y="5676900"/>
            <a:chExt cx="9239250" cy="3181350"/>
          </a:xfrm>
        </p:grpSpPr>
        <p:sp>
          <p:nvSpPr>
            <p:cNvPr id="67" name="Rectangle 67"/>
            <p:cNvSpPr/>
            <p:nvPr/>
          </p:nvSpPr>
          <p:spPr>
            <a:xfrm>
              <a:off x="8001000" y="5676900"/>
              <a:ext cx="9239250" cy="3181350"/>
            </a:xfrm>
            <a:prstGeom prst="roundRect">
              <a:avLst>
                <a:gd name="adj" fmla="val 7784"/>
              </a:avLst>
            </a:prstGeom>
            <a:solidFill>
              <a:srgbClr val="10182F"/>
            </a:solidFill>
            <a:ln w="19050">
              <a:solidFill>
                <a:srgbClr val="2563EB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001000" y="5676900"/>
              <a:ext cx="76200" cy="3181350"/>
            </a:xfrm>
            <a:prstGeom prst="roundRect">
              <a:avLst>
                <a:gd name="adj" fmla="val 50000"/>
              </a:avLst>
            </a:prstGeom>
            <a:solidFill>
              <a:srgbClr val="00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5017096" y="5851525"/>
              <a:ext cx="167070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fa" sz="525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</a:rPr>
                <a:t>۴.۲x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477250" y="6057900"/>
              <a:ext cx="1619250" cy="400050"/>
            </a:xfrm>
            <a:prstGeom prst="roundRect">
              <a:avLst>
                <a:gd name="adj" fmla="val 50000"/>
              </a:avLst>
            </a:prstGeom>
            <a:solidFill>
              <a:srgbClr val="132147"/>
            </a:solidFill>
            <a:ln w="19050">
              <a:solidFill>
                <a:srgbClr val="EC4899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515716" y="6162675"/>
              <a:ext cx="154231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280" b="1" dirty="0">
                  <a:solidFill>
                    <a:srgbClr val="EC4899"/>
                  </a:solidFill>
                  <a:latin typeface="Yekan Bakh"/>
                  <a:ea typeface="Yekan Bakh"/>
                  <a:cs typeface="Yekan Bakh"/>
                  <a:rtl val="1"/>
                </a:rPr>
                <a:t>↑ نرخ بازگشت ROI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3309885" y="6769100"/>
              <a:ext cx="33687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9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ارزش‌آفرینی تجاری مستقیم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905678" y="7194550"/>
              <a:ext cx="4770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کاهش ۶۰ درصدی هزینه‌های عملیاتی و خطاهای داده‌ای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4" presetID="9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g_ambient_waves"/>
          <p:cNvGrpSpPr/>
          <p:nvPr/>
        </p:nvGrpSpPr>
        <p:grpSpPr>
          <a:xfrm>
            <a:off x="0" y="5969000"/>
            <a:ext cx="18288000" cy="4318000"/>
            <a:chOff x="0" y="5969000"/>
            <a:chExt cx="18288000" cy="4318000"/>
          </a:xfrm>
        </p:grpSpPr>
        <p:sp>
          <p:nvSpPr>
            <p:cNvPr id="2" name="Freeform 2"/>
            <p:cNvSpPr/>
            <p:nvPr/>
          </p:nvSpPr>
          <p:spPr>
            <a:xfrm>
              <a:off x="0" y="5969000"/>
              <a:ext cx="18288000" cy="4318000"/>
            </a:xfrm>
            <a:custGeom>
              <a:avLst/>
              <a:gdLst/>
              <a:ahLst/>
              <a:cxnLst/>
              <a:rect l="l" t="t" r="r" b="b"/>
              <a:pathLst>
                <a:path w="18288000" h="4318000">
                  <a:moveTo>
                    <a:pt x="0" y="889000"/>
                  </a:moveTo>
                  <a:cubicBezTo>
                    <a:pt x="3048000" y="0"/>
                    <a:pt x="6096000" y="127000"/>
                    <a:pt x="9144000" y="1270000"/>
                  </a:cubicBezTo>
                  <a:cubicBezTo>
                    <a:pt x="12192000" y="2413000"/>
                    <a:pt x="15240000" y="2159000"/>
                    <a:pt x="18288000" y="508000"/>
                  </a:cubicBezTo>
                  <a:lnTo>
                    <a:pt x="18288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0E1E45">
                <a:alpha val="60000"/>
              </a:srgbClr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7366000"/>
              <a:ext cx="18288000" cy="2921000"/>
            </a:xfrm>
            <a:custGeom>
              <a:avLst/>
              <a:gdLst/>
              <a:ahLst/>
              <a:cxnLst/>
              <a:rect l="l" t="t" r="r" b="b"/>
              <a:pathLst>
                <a:path w="18288000" h="2921000">
                  <a:moveTo>
                    <a:pt x="0" y="635000"/>
                  </a:moveTo>
                  <a:cubicBezTo>
                    <a:pt x="3302000" y="0"/>
                    <a:pt x="6731000" y="190500"/>
                    <a:pt x="10287000" y="1206500"/>
                  </a:cubicBezTo>
                  <a:cubicBezTo>
                    <a:pt x="13843000" y="2222500"/>
                    <a:pt x="16510000" y="1968500"/>
                    <a:pt x="18288000" y="444500"/>
                  </a:cubicBezTo>
                  <a:lnTo>
                    <a:pt x="1828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E1B4B">
                <a:alpha val="85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5969000"/>
              <a:ext cx="18288000" cy="2413000"/>
            </a:xfrm>
            <a:custGeom>
              <a:avLst/>
              <a:gdLst/>
              <a:ahLst/>
              <a:cxnLst/>
              <a:rect l="l" t="t" r="r" b="b"/>
              <a:pathLst>
                <a:path w="18288000" h="2413000">
                  <a:moveTo>
                    <a:pt x="0" y="889000"/>
                  </a:moveTo>
                  <a:cubicBezTo>
                    <a:pt x="3048000" y="0"/>
                    <a:pt x="6096000" y="127000"/>
                    <a:pt x="9144000" y="1270000"/>
                  </a:cubicBezTo>
                  <a:cubicBezTo>
                    <a:pt x="12192000" y="2413000"/>
                    <a:pt x="15240000" y="2159000"/>
                    <a:pt x="18288000" y="508000"/>
                  </a:cubicBezTo>
                </a:path>
              </a:pathLst>
            </a:custGeom>
            <a:noFill/>
            <a:ln w="28575">
              <a:solidFill>
                <a:srgbClr val="00F0FF">
                  <a:alpha val="45000"/>
                </a:srgbClr>
              </a:solidFill>
            </a:ln>
          </p:spPr>
        </p:sp>
      </p:grpSp>
      <p:grpSp>
        <p:nvGrpSpPr>
          <p:cNvPr id="51" name="bg_geometric_accents"/>
          <p:cNvGrpSpPr/>
          <p:nvPr/>
        </p:nvGrpSpPr>
        <p:grpSpPr>
          <a:xfrm>
            <a:off x="0" y="0"/>
            <a:ext cx="20955000" cy="12763500"/>
            <a:chOff x="0" y="0"/>
            <a:chExt cx="20955000" cy="12763500"/>
          </a:xfrm>
        </p:grpSpPr>
        <p:sp>
          <p:nvSpPr>
            <p:cNvPr id="6" name="Ellipse 6"/>
            <p:cNvSpPr/>
            <p:nvPr/>
          </p:nvSpPr>
          <p:spPr>
            <a:xfrm>
              <a:off x="14859000" y="6667500"/>
              <a:ext cx="4953000" cy="4953000"/>
            </a:xfrm>
            <a:prstGeom prst="ellipse">
              <a:avLst/>
            </a:prstGeom>
            <a:noFill/>
            <a:ln w="19050">
              <a:solidFill>
                <a:srgbClr val="00F0FF">
                  <a:alpha val="20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7" name="Ellipse 7"/>
            <p:cNvSpPr/>
            <p:nvPr/>
          </p:nvSpPr>
          <p:spPr>
            <a:xfrm>
              <a:off x="15621000" y="7429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A855F7">
                  <a:alpha val="2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716000" y="5524500"/>
              <a:ext cx="7239000" cy="7239000"/>
            </a:xfrm>
            <a:prstGeom prst="ellipse">
              <a:avLst/>
            </a:prstGeom>
            <a:noFill/>
            <a:ln w="9525">
              <a:solidFill>
                <a:srgbClr val="EC4899">
                  <a:alpha val="12000"/>
                </a:srgbClr>
              </a:solidFill>
              <a:custDash>
                <a:ds d="600000" sp="1400000"/>
              </a:custDash>
            </a:ln>
          </p:spPr>
        </p:sp>
        <p:sp>
          <p:nvSpPr>
            <p:cNvPr id="9" name="Polygon 9"/>
            <p:cNvSpPr/>
            <p:nvPr/>
          </p:nvSpPr>
          <p:spPr>
            <a:xfrm>
              <a:off x="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0" y="0"/>
                  </a:moveTo>
                  <a:lnTo>
                    <a:pt x="2095500" y="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00F0FF">
                <a:alpha val="8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6192500" y="0"/>
              <a:ext cx="2095500" cy="2095500"/>
            </a:xfrm>
            <a:custGeom>
              <a:avLst/>
              <a:gdLst/>
              <a:ahLst/>
              <a:cxnLst/>
              <a:rect l="l" t="t" r="r" b="b"/>
              <a:pathLst>
                <a:path w="2095500" h="2095500">
                  <a:moveTo>
                    <a:pt x="2095500" y="0"/>
                  </a:moveTo>
                  <a:lnTo>
                    <a:pt x="0" y="0"/>
                  </a:lnTo>
                  <a:lnTo>
                    <a:pt x="2095500" y="2095500"/>
                  </a:lnTo>
                  <a:close/>
                </a:path>
              </a:pathLst>
            </a:custGeom>
            <a:solidFill>
              <a:srgbClr val="A855F7">
                <a:alpha val="8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76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572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67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763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3858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5954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80498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14538" y="5476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476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572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667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763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3858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5954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80498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14538" y="7572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476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572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667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63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3858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5954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80498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014538" y="9667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476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572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667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763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3858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954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80498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014538" y="117633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476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572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667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763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3858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954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80498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014538" y="1385888"/>
              <a:ext cx="47625" cy="47625"/>
            </a:xfrm>
            <a:prstGeom prst="ellipse">
              <a:avLst/>
            </a:prstGeom>
            <a:solidFill>
              <a:srgbClr val="00F0FF">
                <a:alpha val="25000"/>
              </a:srgbClr>
            </a:solidFill>
            <a:ln>
              <a:noFill/>
            </a:ln>
          </p:spPr>
        </p:sp>
      </p:grpSp>
      <p:grpSp>
        <p:nvGrpSpPr>
          <p:cNvPr id="54" name="header_group"/>
          <p:cNvGrpSpPr/>
          <p:nvPr/>
        </p:nvGrpSpPr>
        <p:grpSpPr>
          <a:xfrm>
            <a:off x="7967167" y="822325"/>
            <a:ext cx="9196121" cy="1008888"/>
            <a:chOff x="7967167" y="822325"/>
            <a:chExt cx="9196121" cy="1008888"/>
          </a:xfrm>
        </p:grpSpPr>
        <p:sp>
          <p:nvSpPr>
            <p:cNvPr id="52" name="TextBox 52"/>
            <p:cNvSpPr txBox="1"/>
            <p:nvPr/>
          </p:nvSpPr>
          <p:spPr>
            <a:xfrm>
              <a:off x="14794487" y="822325"/>
              <a:ext cx="23581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50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  <a:rtl val="1"/>
                </a:rPr>
                <a:t>تحلیل تطبیقی رویکردها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67167" y="1127125"/>
              <a:ext cx="919612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360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مقایسه روش‌های سنتی با سامانه هوشمند</a:t>
              </a:r>
            </a:p>
          </p:txBody>
        </p:sp>
      </p:grpSp>
      <p:grpSp>
        <p:nvGrpSpPr>
          <p:cNvPr id="70" name="compare_col_a"/>
          <p:cNvGrpSpPr/>
          <p:nvPr/>
        </p:nvGrpSpPr>
        <p:grpSpPr>
          <a:xfrm>
            <a:off x="9429750" y="2238375"/>
            <a:ext cx="7715250" cy="6667500"/>
            <a:chOff x="9429750" y="2238375"/>
            <a:chExt cx="7715250" cy="6667500"/>
          </a:xfrm>
        </p:grpSpPr>
        <p:sp>
          <p:nvSpPr>
            <p:cNvPr id="55" name="Rectangle 55"/>
            <p:cNvSpPr/>
            <p:nvPr/>
          </p:nvSpPr>
          <p:spPr>
            <a:xfrm>
              <a:off x="9429750" y="2238375"/>
              <a:ext cx="7715250" cy="6667500"/>
            </a:xfrm>
            <a:prstGeom prst="roundRect">
              <a:avLst>
                <a:gd name="adj" fmla="val 4286"/>
              </a:avLst>
            </a:prstGeom>
            <a:solidFill>
              <a:srgbClr val="10182F"/>
            </a:solidFill>
            <a:ln w="19050">
              <a:solidFill>
                <a:srgbClr val="EF4444">
                  <a:alpha val="50000"/>
                </a:srgbClr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810750" y="2619375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rgbClr val="070B19"/>
            </a:solidFill>
            <a:ln w="19050">
              <a:solidFill>
                <a:srgbClr val="EF444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44441" y="2759075"/>
              <a:ext cx="2209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650" b="1" dirty="0">
                  <a:solidFill>
                    <a:srgbClr val="EF4444"/>
                  </a:solidFill>
                  <a:latin typeface="Yekan Bakh"/>
                  <a:ea typeface="Yekan Bakh"/>
                  <a:cs typeface="Yekan Bakh"/>
                  <a:rtl val="1"/>
                </a:rPr>
                <a:t>روش‌های سنتی پردازش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16244888" y="3700462"/>
              <a:ext cx="200025" cy="200025"/>
              <a:chOff x="16244888" y="3700462"/>
              <a:chExt cx="200025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16244888" y="37004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2225" cap="rnd">
                <a:solidFill>
                  <a:srgbClr val="EF4444"/>
                </a:solidFill>
                <a:round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6322675" y="3778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 cap="rnd">
                <a:solidFill>
                  <a:srgbClr val="EF4444"/>
                </a:solidFill>
                <a:round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1674945" y="3654425"/>
              <a:ext cx="43925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65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سرعت کند و وابستگی مفرط به نیروی انسانی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16244888" y="4386262"/>
              <a:ext cx="200025" cy="200025"/>
              <a:chOff x="16244888" y="4386262"/>
              <a:chExt cx="200025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6244888" y="43862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2225" cap="rnd">
                <a:solidFill>
                  <a:srgbClr val="EF4444"/>
                </a:solidFill>
                <a:round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6322675" y="44640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 cap="rnd">
                <a:solidFill>
                  <a:srgbClr val="EF4444"/>
                </a:solidFill>
                <a:round/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2230252" y="4340225"/>
              <a:ext cx="38372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65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خطای آماری بالا در حجم کلان داده‌ها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16244888" y="5072062"/>
              <a:ext cx="200025" cy="200025"/>
              <a:chOff x="16244888" y="5072062"/>
              <a:chExt cx="200025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6244888" y="50720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2225" cap="rnd">
                <a:solidFill>
                  <a:srgbClr val="EF4444"/>
                </a:solidFill>
                <a:round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6322675" y="51498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 cap="rnd">
                <a:solidFill>
                  <a:srgbClr val="EF4444"/>
                </a:solidFill>
                <a:round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563883" y="5026025"/>
              <a:ext cx="4503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650" dirty="0">
                  <a:solidFill>
                    <a:srgbClr val="CBD5E1"/>
                  </a:solidFill>
                  <a:latin typeface="Yekan Bakh"/>
                  <a:ea typeface="Yekan Bakh"/>
                  <a:cs typeface="Yekan Bakh"/>
                  <a:rtl val="1"/>
                </a:rPr>
                <a:t>هزینه‌های هنگفت نگهداری و مقیاس‌پذیری سخت</a:t>
              </a:r>
            </a:p>
          </p:txBody>
        </p:sp>
      </p:grpSp>
      <p:grpSp>
        <p:nvGrpSpPr>
          <p:cNvPr id="86" name="compare_col_b"/>
          <p:cNvGrpSpPr/>
          <p:nvPr/>
        </p:nvGrpSpPr>
        <p:grpSpPr>
          <a:xfrm>
            <a:off x="1047750" y="2238375"/>
            <a:ext cx="7715250" cy="6667500"/>
            <a:chOff x="1047750" y="2238375"/>
            <a:chExt cx="7715250" cy="6667500"/>
          </a:xfrm>
        </p:grpSpPr>
        <p:sp>
          <p:nvSpPr>
            <p:cNvPr id="71" name="Rectangle 71"/>
            <p:cNvSpPr/>
            <p:nvPr/>
          </p:nvSpPr>
          <p:spPr>
            <a:xfrm>
              <a:off x="1047750" y="2238375"/>
              <a:ext cx="7715250" cy="6667500"/>
            </a:xfrm>
            <a:prstGeom prst="roundRect">
              <a:avLst>
                <a:gd name="adj" fmla="val 4286"/>
              </a:avLst>
            </a:prstGeom>
            <a:solidFill>
              <a:srgbClr val="10182F"/>
            </a:solidFill>
            <a:ln w="28575">
              <a:solidFill>
                <a:srgbClr val="00F0FF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428750" y="2619375"/>
              <a:ext cx="2857500" cy="533400"/>
            </a:xfrm>
            <a:prstGeom prst="roundRect">
              <a:avLst>
                <a:gd name="adj" fmla="val 50000"/>
              </a:avLst>
            </a:prstGeom>
            <a:solidFill>
              <a:srgbClr val="132147"/>
            </a:solidFill>
            <a:ln w="23812">
              <a:solidFill>
                <a:srgbClr val="00F0F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373944" y="2759075"/>
              <a:ext cx="29671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fa" sz="1650" b="1" dirty="0">
                  <a:solidFill>
                    <a:srgbClr val="00F0FF"/>
                  </a:solidFill>
                  <a:latin typeface="Yekan Bakh"/>
                  <a:ea typeface="Yekan Bakh"/>
                  <a:cs typeface="Yekan Bakh"/>
                  <a:rtl val="1"/>
                </a:rPr>
                <a:t>✦ سامانه هوش مصنوعی نوین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7862888" y="3700462"/>
              <a:ext cx="200025" cy="200025"/>
              <a:chOff x="7862888" y="3700462"/>
              <a:chExt cx="200025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862888" y="37004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2225" cap="rnd">
                <a:solidFill>
                  <a:srgbClr val="00F0FF"/>
                </a:solidFill>
                <a:round/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929562" y="37782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 cap="rnd">
                <a:solidFill>
                  <a:srgbClr val="00F0FF"/>
                </a:solidFill>
                <a:round/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2689326" y="3654425"/>
              <a:ext cx="49962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6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پردازش آنی میلیون‌ها رکورد در کسری از ثانیه</a:t>
              </a: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7862888" y="4386262"/>
              <a:ext cx="200025" cy="200025"/>
              <a:chOff x="7862888" y="4386262"/>
              <a:chExt cx="200025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862888" y="43862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2225" cap="rnd">
                <a:solidFill>
                  <a:srgbClr val="00F0FF"/>
                </a:solidFill>
                <a:round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929562" y="44640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 cap="rnd">
                <a:solidFill>
                  <a:srgbClr val="00F0FF"/>
                </a:solidFill>
                <a:round/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2561050" y="4340225"/>
              <a:ext cx="512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6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دقت تحلیلی بالای ۹۹.۲ درصد با بازخورد مداوم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7862888" y="5072062"/>
              <a:ext cx="200025" cy="200025"/>
              <a:chOff x="7862888" y="5072062"/>
              <a:chExt cx="200025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862888" y="50720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2225" cap="rnd">
                <a:solidFill>
                  <a:srgbClr val="00F0FF"/>
                </a:solidFill>
                <a:round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929562" y="51498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 cap="rnd">
                <a:solidFill>
                  <a:srgbClr val="00F0FF"/>
                </a:solidFill>
                <a:round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2759294" y="5026025"/>
              <a:ext cx="4926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fa" sz="1650" b="1" dirty="0">
                  <a:solidFill>
                    <a:srgbClr val="FFFFFF"/>
                  </a:solidFill>
                  <a:latin typeface="Yekan Bakh"/>
                  <a:ea typeface="Yekan Bakh"/>
                  <a:cs typeface="Yekan Bakh"/>
                  <a:rtl val="1"/>
                </a:rPr>
                <a:t>خودکارسازی فراگیر و کاهش ۶۰ درصدی هزینه‌ها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oject_v3">
  <a:themeElements>
    <a:clrScheme name="project_v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ject_v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v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ject_v3">
  <a:themeElements>
    <a:clrScheme name="project_v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ject_v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v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fa</dc:language>
  <cp:lastModifiedBy/>
  <cp:revision>1</cp:revision>
  <dcterms:created xsi:type="dcterms:W3CDTF">2026-10-10T17:57:14Z</dcterms:created>
  <dcterms:modified xsi:type="dcterms:W3CDTF">2026-10-10T17:57:14Z</dcterms:modified>
  <cp:category/>
  <cp:contentStatus/>
</cp:coreProperties>
</file>