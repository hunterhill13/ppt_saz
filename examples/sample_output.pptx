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0"/>
  </p:notesMasterIdLst>
  <p:sldIdLst>
    <p:sldId id="256" r:id="rId7"/>
    <p:sldId id="257" r:id="rId8"/>
    <p:sldId id="258" r:id="rId9"/>
  </p:sldIdLst>
  <p:sldSz cx="18288000" cy="10287000" type="screen16x9"/>
  <p:notesSz cx="6858000" cy="9144000"/>
  <p:defaultTextStyle>
    <a:defPPr>
      <a:defRPr lang="fa"/>
    </a:defPPr>
    <a:lvl1pPr marL="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1pPr>
    <a:lvl2pPr marL="4572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2pPr>
    <a:lvl3pPr marL="9144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3pPr>
    <a:lvl4pPr marL="13716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4pPr>
    <a:lvl5pPr marL="18288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5pPr>
    <a:lvl6pPr marL="22860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6pPr>
    <a:lvl7pPr marL="27432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7pPr>
    <a:lvl8pPr marL="32004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8pPr>
    <a:lvl9pPr marL="36576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  <Relationship Id="rId10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 rtl="1">
      <a:defRPr sz="1200" lang="fa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1: هوش مصنوعی و آینده یادگیری ماشین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در این اسلاید آغازین، کلیات و اهمیت موج جدید مدل‌های هوش مصنوعی را مرور می‌کنیم.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2: سه ستون محوری تحول داده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ستون‌های سه‌گانه نشان‌دهنده معماری یکپارچه برای استقرار سیستم‌های هوش مصنوعی در ابعاد بزرگ است.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3: تاثیر هوش مصنوعی بر صنایع مدرن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این اسلاید دستاوردهای عملیاتی و تغییرات بنیادین در بخش‌های مختلف صنعت و دانشگاه را تحلیل می‌کند.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test_projec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a" smtClean="0"/>
              <a:t>1/27/13</a:t>
            </a:fld>
            <a:endParaRPr lang="f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a" smtClean="0"/>
              <a:t>‹#›</a:t>
            </a:fld>
            <a:endParaRPr lang="fa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test_projec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fa" smtClean="0"/>
              <a:t>1/27/13</a:t>
            </a:fld>
            <a:endParaRPr lang="f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fa" smtClean="0"/>
              <a:t>‹#›</a:t>
            </a:fld>
            <a:endParaRPr lang="f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1" eaLnBrk="1" latinLnBrk="0" hangingPunct="1">
        <a:spcBef>
          <a:spcPct val="0"/>
        </a:spcBef>
        <a:buNone/>
        <a:defRPr sz="4400" kern="1200" lang="fa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r" defTabSz="457200" rtl="1" eaLnBrk="1" latinLnBrk="0" hangingPunct="1">
        <a:spcBef>
          <a:spcPct val="20000"/>
        </a:spcBef>
        <a:buFont typeface="Arial"/>
        <a:buChar char="•"/>
        <a:defRPr sz="3200" kern="1200" lang="fa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ct val="20000"/>
        </a:spcBef>
        <a:buFont typeface="Arial"/>
        <a:buChar char="–"/>
        <a:defRPr sz="2800" kern="1200" lang="fa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457200" rtl="1" eaLnBrk="1" latinLnBrk="0" hangingPunct="1">
        <a:spcBef>
          <a:spcPct val="20000"/>
        </a:spcBef>
        <a:buFont typeface="Arial"/>
        <a:buChar char="•"/>
        <a:defRPr sz="2400" kern="1200" lang="fa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457200" rtl="1" eaLnBrk="1" latinLnBrk="0" hangingPunct="1">
        <a:spcBef>
          <a:spcPct val="20000"/>
        </a:spcBef>
        <a:buFont typeface="Arial"/>
        <a:buChar char="–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457200" rtl="1" eaLnBrk="1" latinLnBrk="0" hangingPunct="1">
        <a:spcBef>
          <a:spcPct val="20000"/>
        </a:spcBef>
        <a:buFont typeface="Arial"/>
        <a:buChar char="»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"/>
      </a:defPPr>
      <a:lvl1pPr marL="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aad83d41b46738f.jp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aad83d41b46738f.jpg"/>
  <Relationship Id="rId3" Type="http://schemas.openxmlformats.org/officeDocument/2006/relationships/notesSlide" Target="../notesSlides/notesSlide3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title_group"/>
          <p:cNvGrpSpPr/>
          <p:nvPr/>
        </p:nvGrpSpPr>
        <p:grpSpPr>
          <a:xfrm>
            <a:off x="4577397" y="3378200"/>
            <a:ext cx="11824653" cy="2663444"/>
            <a:chOff x="4577397" y="3378200"/>
            <a:chExt cx="11824653" cy="2663444"/>
          </a:xfrm>
        </p:grpSpPr>
        <p:sp>
          <p:nvSpPr>
            <p:cNvPr id="2" name="TextBox 2"/>
            <p:cNvSpPr txBox="1"/>
            <p:nvPr/>
          </p:nvSpPr>
          <p:spPr>
            <a:xfrm>
              <a:off x="4577397" y="3378200"/>
              <a:ext cx="11824653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5100" b="1" dirty="0">
                  <a:solidFill>
                    <a:srgbClr val="F8FAFC"/>
                  </a:solidFill>
                  <a:latin typeface="Vazirmatn"/>
                  <a:ea typeface="Vazirmatn"/>
                  <a:cs typeface="Vazirmatn"/>
                  <a:rtl val="1"/>
                </a:rPr>
                <a:t>هوش مصنوعی و آینده یادگیری ماشین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385718" y="4648200"/>
              <a:ext cx="1001023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550" b="1" dirty="0">
                  <a:solidFill>
                    <a:srgbClr val="48CAE4"/>
                  </a:solidFill>
                  <a:latin typeface="Vazirmatn"/>
                  <a:ea typeface="Vazirmatn"/>
                  <a:cs typeface="Vazirmatn"/>
                  <a:rtl val="1"/>
                </a:rPr>
                <a:t>تحول بنیادین در الگوهای پردازش داده و تصمیم‌گیری خودکار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534040" y="5689600"/>
              <a:ext cx="58581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80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ارائه‌دهنده: مهندسی سیستم‌های هوشمند | پاییز ۱۴۰۵</a:t>
              </a:r>
            </a:p>
          </p:txBody>
        </p:sp>
      </p:grpSp>
      <p:grpSp>
        <p:nvGrpSpPr>
          <p:cNvPr id="7" name="accent_bar"/>
          <p:cNvGrpSpPr/>
          <p:nvPr/>
        </p:nvGrpSpPr>
        <p:grpSpPr>
          <a:xfrm>
            <a:off x="16573500" y="3429000"/>
            <a:ext cx="114300" cy="1714500"/>
            <a:chOff x="16573500" y="3429000"/>
            <a:chExt cx="114300" cy="1714500"/>
          </a:xfrm>
        </p:grpSpPr>
        <p:sp>
          <p:nvSpPr>
            <p:cNvPr id="6" name="Rectangle 6"/>
            <p:cNvSpPr/>
            <p:nvPr/>
          </p:nvSpPr>
          <p:spPr>
            <a:xfrm>
              <a:off x="16573500" y="3429000"/>
              <a:ext cx="114300" cy="1714500"/>
            </a:xfrm>
            <a:prstGeom prst="roundRect">
              <a:avLst>
                <a:gd name="adj" fmla="val 50000"/>
              </a:avLst>
            </a:prstGeom>
            <a:solidFill>
              <a:srgbClr val="48CAE4"/>
            </a:solidFill>
            <a:ln>
              <a:noFill/>
            </a:ln>
          </p:spPr>
        </p:sp>
      </p:grpSp>
      <p:grpSp>
        <p:nvGrpSpPr>
          <p:cNvPr id="10" name="hero_image"/>
          <p:cNvGrpSpPr/>
          <p:nvPr/>
        </p:nvGrpSpPr>
        <p:grpSpPr>
          <a:xfrm>
            <a:off x="952500" y="2286000"/>
            <a:ext cx="6667500" cy="5715000"/>
            <a:chOff x="952500" y="2286000"/>
            <a:chExt cx="6667500" cy="5715000"/>
          </a:xfrm>
        </p:grpSpPr>
        <p:sp>
          <p:nvSpPr>
            <p:cNvPr id="8" name="Rectangle 8"/>
            <p:cNvSpPr/>
            <p:nvPr/>
          </p:nvSpPr>
          <p:spPr>
            <a:xfrm>
              <a:off x="952500" y="2286000"/>
              <a:ext cx="6667500" cy="5715000"/>
            </a:xfrm>
            <a:prstGeom prst="roundRect">
              <a:avLst>
                <a:gd name="adj" fmla="val 4000"/>
              </a:avLst>
            </a:prstGeom>
            <a:solidFill>
              <a:srgbClr val="1C2541"/>
            </a:solidFill>
            <a:ln w="28575">
              <a:solidFill>
                <a:srgbClr val="48CAE4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rcRect l="10920" t="0" r="10919" b="0"/>
            <a:stretch>
              <a:fillRect/>
            </a:stretch>
          </p:blipFill>
          <p:spPr>
            <a:xfrm>
              <a:off x="1047750" y="2381250"/>
              <a:ext cx="6477000" cy="5524500"/>
            </a:xfrm>
            <a:prstGeom prst="rect">
              <a:avLst/>
            </a:prstGeom>
          </p:spPr>
        </p:pic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3" presetID="6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_group"/>
          <p:cNvGrpSpPr/>
          <p:nvPr/>
        </p:nvGrpSpPr>
        <p:grpSpPr>
          <a:xfrm>
            <a:off x="10703667" y="939800"/>
            <a:ext cx="6460383" cy="1066800"/>
            <a:chOff x="10703667" y="939800"/>
            <a:chExt cx="6460383" cy="1066800"/>
          </a:xfrm>
        </p:grpSpPr>
        <p:sp>
          <p:nvSpPr>
            <p:cNvPr id="2" name="TextBox 2"/>
            <p:cNvSpPr txBox="1"/>
            <p:nvPr/>
          </p:nvSpPr>
          <p:spPr>
            <a:xfrm>
              <a:off x="15912165" y="939800"/>
              <a:ext cx="1241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48CAE4"/>
                  </a:solidFill>
                  <a:latin typeface="Vazirmatn"/>
                  <a:ea typeface="Vazirmatn"/>
                  <a:cs typeface="Vazirmatn"/>
                  <a:rtl val="1"/>
                </a:rPr>
                <a:t>ارکان اصلی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703667" y="1244600"/>
              <a:ext cx="6460383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900" b="1" dirty="0">
                  <a:solidFill>
                    <a:srgbClr val="F8FAFC"/>
                  </a:solidFill>
                  <a:latin typeface="Vazirmatn"/>
                  <a:ea typeface="Vazirmatn"/>
                  <a:cs typeface="Vazirmatn"/>
                  <a:rtl val="1"/>
                </a:rPr>
                <a:t>سه ستون محوری تحول داده</a:t>
              </a:r>
            </a:p>
          </p:txBody>
        </p:sp>
      </p:grpSp>
      <p:grpSp>
        <p:nvGrpSpPr>
          <p:cNvPr id="12" name="card_1"/>
          <p:cNvGrpSpPr/>
          <p:nvPr/>
        </p:nvGrpSpPr>
        <p:grpSpPr>
          <a:xfrm>
            <a:off x="12065000" y="2476500"/>
            <a:ext cx="5080000" cy="6477000"/>
            <a:chOff x="12065000" y="2476500"/>
            <a:chExt cx="5080000" cy="6477000"/>
          </a:xfrm>
        </p:grpSpPr>
        <p:sp>
          <p:nvSpPr>
            <p:cNvPr id="5" name="Rectangle 5"/>
            <p:cNvSpPr/>
            <p:nvPr/>
          </p:nvSpPr>
          <p:spPr>
            <a:xfrm>
              <a:off x="12065000" y="2476500"/>
              <a:ext cx="5080000" cy="6477000"/>
            </a:xfrm>
            <a:prstGeom prst="roundRect">
              <a:avLst>
                <a:gd name="adj" fmla="val 30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16344900" y="2819400"/>
              <a:ext cx="457200" cy="457200"/>
            </a:xfrm>
            <a:prstGeom prst="ellipse">
              <a:avLst/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6507573" y="294640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00" b="1" dirty="0">
                  <a:solidFill>
                    <a:srgbClr val="48CAE4"/>
                  </a:solidFill>
                  <a:latin typeface="Vazirmatn"/>
                  <a:ea typeface="Vazirmatn"/>
                  <a:cs typeface="Vazirmatn"/>
                </a:rPr>
                <a:t>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559013" y="3422650"/>
              <a:ext cx="30266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400" b="1" dirty="0">
                  <a:solidFill>
                    <a:srgbClr val="F8FAFC"/>
                  </a:solidFill>
                  <a:latin typeface="Vazirmatn"/>
                  <a:ea typeface="Vazirmatn"/>
                  <a:cs typeface="Vazirmatn"/>
                  <a:rtl val="1"/>
                </a:rPr>
                <a:t>شبکه‌های عصبی عمیق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744156" y="4178300"/>
              <a:ext cx="28377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مدل‌های ترنسفورمر چندوجهی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677519" y="4578350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پردازش زبان طبیعی پیشرفته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11105" y="4978400"/>
              <a:ext cx="347077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تولید تصاویر و مدیا با دقت بالا</a:t>
              </a:r>
            </a:p>
          </p:txBody>
        </p:sp>
      </p:grpSp>
      <p:grpSp>
        <p:nvGrpSpPr>
          <p:cNvPr id="20" name="card_2"/>
          <p:cNvGrpSpPr/>
          <p:nvPr/>
        </p:nvGrpSpPr>
        <p:grpSpPr>
          <a:xfrm>
            <a:off x="6604000" y="2476500"/>
            <a:ext cx="5080000" cy="6477000"/>
            <a:chOff x="6604000" y="2476500"/>
            <a:chExt cx="5080000" cy="6477000"/>
          </a:xfrm>
        </p:grpSpPr>
        <p:sp>
          <p:nvSpPr>
            <p:cNvPr id="13" name="Rectangle 13"/>
            <p:cNvSpPr/>
            <p:nvPr/>
          </p:nvSpPr>
          <p:spPr>
            <a:xfrm>
              <a:off x="6604000" y="2476500"/>
              <a:ext cx="5080000" cy="6477000"/>
            </a:xfrm>
            <a:prstGeom prst="roundRect">
              <a:avLst>
                <a:gd name="adj" fmla="val 30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10883900" y="2819400"/>
              <a:ext cx="457200" cy="457200"/>
            </a:xfrm>
            <a:prstGeom prst="ellipse">
              <a:avLst/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046573" y="294640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00" b="1" dirty="0">
                  <a:solidFill>
                    <a:srgbClr val="48CAE4"/>
                  </a:solidFill>
                  <a:latin typeface="Vazirmatn"/>
                  <a:ea typeface="Vazirmatn"/>
                  <a:cs typeface="Vazirmatn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65096" y="3422650"/>
              <a:ext cx="395959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400" b="1" dirty="0">
                  <a:solidFill>
                    <a:srgbClr val="F8FAFC"/>
                  </a:solidFill>
                  <a:latin typeface="Vazirmatn"/>
                  <a:ea typeface="Vazirmatn"/>
                  <a:cs typeface="Vazirmatn"/>
                  <a:rtl val="1"/>
                </a:rPr>
                <a:t>زیرساخت ابری مقیاس‌پذیر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982661" y="4178300"/>
              <a:ext cx="31382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کلاسترهای پردازش GPU و TPU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527491" y="4578350"/>
              <a:ext cx="25933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سیستم‌های توزیع‌شده داده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69080" y="4978400"/>
              <a:ext cx="36518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پایپ‌لاین‌های بلادرنگ (Real-time)</a:t>
              </a:r>
            </a:p>
          </p:txBody>
        </p:sp>
      </p:grpSp>
      <p:grpSp>
        <p:nvGrpSpPr>
          <p:cNvPr id="28" name="card_3"/>
          <p:cNvGrpSpPr/>
          <p:nvPr/>
        </p:nvGrpSpPr>
        <p:grpSpPr>
          <a:xfrm>
            <a:off x="1143000" y="2476500"/>
            <a:ext cx="5080000" cy="6477000"/>
            <a:chOff x="1143000" y="2476500"/>
            <a:chExt cx="5080000" cy="6477000"/>
          </a:xfrm>
        </p:grpSpPr>
        <p:sp>
          <p:nvSpPr>
            <p:cNvPr id="21" name="Rectangle 21"/>
            <p:cNvSpPr/>
            <p:nvPr/>
          </p:nvSpPr>
          <p:spPr>
            <a:xfrm>
              <a:off x="1143000" y="2476500"/>
              <a:ext cx="5080000" cy="6477000"/>
            </a:xfrm>
            <a:prstGeom prst="roundRect">
              <a:avLst>
                <a:gd name="adj" fmla="val 30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5422900" y="2819400"/>
              <a:ext cx="457200" cy="457200"/>
            </a:xfrm>
            <a:prstGeom prst="ellipse">
              <a:avLst/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585573" y="294640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00" b="1" dirty="0">
                  <a:solidFill>
                    <a:srgbClr val="48CAE4"/>
                  </a:solidFill>
                  <a:latin typeface="Vazirmatn"/>
                  <a:ea typeface="Vazirmatn"/>
                  <a:cs typeface="Vazirmatn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88907" y="3422650"/>
              <a:ext cx="387478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400" b="1" dirty="0">
                  <a:solidFill>
                    <a:srgbClr val="F8FAFC"/>
                  </a:solidFill>
                  <a:latin typeface="Vazirmatn"/>
                  <a:ea typeface="Vazirmatn"/>
                  <a:cs typeface="Vazirmatn"/>
                  <a:rtl val="1"/>
                </a:rPr>
                <a:t>توسعه اخلاق‌مدار و ایمن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755519" y="4178300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شفافیت و تفسیرپذیری مدل‌ها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00211" y="4578350"/>
              <a:ext cx="34596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حفظ حریم خصوصی داده‌های کاربران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00211" y="4978400"/>
              <a:ext cx="34596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Vazirmatn"/>
                  <a:ea typeface="Vazirmatn"/>
                  <a:cs typeface="Vazirmatn"/>
                  <a:rtl val="1"/>
                </a:rPr>
                <a:t>همسویی اهداف با ارزش‌های انسانی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4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_group"/>
          <p:cNvGrpSpPr/>
          <p:nvPr/>
        </p:nvGrpSpPr>
        <p:grpSpPr>
          <a:xfrm>
            <a:off x="8719099" y="1117600"/>
            <a:ext cx="8444951" cy="1174750"/>
            <a:chOff x="8719099" y="1117600"/>
            <a:chExt cx="8444951" cy="1174750"/>
          </a:xfrm>
        </p:grpSpPr>
        <p:sp>
          <p:nvSpPr>
            <p:cNvPr id="2" name="TextBox 2"/>
            <p:cNvSpPr txBox="1"/>
            <p:nvPr/>
          </p:nvSpPr>
          <p:spPr>
            <a:xfrm>
              <a:off x="14820527" y="1117600"/>
              <a:ext cx="23336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800" b="1" dirty="0">
                  <a:solidFill>
                    <a:srgbClr val="48CAE4"/>
                  </a:solidFill>
                  <a:latin typeface="Vazirmatn"/>
                  <a:ea typeface="Vazirmatn"/>
                  <a:cs typeface="Vazirmatn"/>
                  <a:rtl val="1"/>
                </a:rPr>
                <a:t>کاربردهای راهبردی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8719099" y="1530350"/>
              <a:ext cx="844495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900" b="1" dirty="0">
                  <a:solidFill>
                    <a:srgbClr val="F8FAFC"/>
                  </a:solidFill>
                  <a:latin typeface="Vazirmatn"/>
                  <a:ea typeface="Vazirmatn"/>
                  <a:cs typeface="Vazirmatn"/>
                  <a:rtl val="1"/>
                </a:rPr>
                <a:t>تاثیر هوش مصنوعی بر صنایع مدرن</a:t>
              </a:r>
            </a:p>
          </p:txBody>
        </p:sp>
      </p:grpSp>
      <p:grpSp>
        <p:nvGrpSpPr>
          <p:cNvPr id="17" name="bullets_group"/>
          <p:cNvGrpSpPr/>
          <p:nvPr/>
        </p:nvGrpSpPr>
        <p:grpSpPr>
          <a:xfrm>
            <a:off x="10217620" y="2806700"/>
            <a:ext cx="6908330" cy="2810256"/>
            <a:chOff x="10217620" y="2806700"/>
            <a:chExt cx="6908330" cy="2810256"/>
          </a:xfrm>
        </p:grpSpPr>
        <p:grpSp>
          <p:nvGrpSpPr>
            <p:cNvPr id="7" name="bullet_1"/>
            <p:cNvGrpSpPr/>
            <p:nvPr/>
          </p:nvGrpSpPr>
          <p:grpSpPr>
            <a:xfrm>
              <a:off x="10296373" y="2806700"/>
              <a:ext cx="6829577" cy="381381"/>
              <a:chOff x="10296373" y="2806700"/>
              <a:chExt cx="6829577" cy="381381"/>
            </a:xfrm>
          </p:grpSpPr>
          <p:sp>
            <p:nvSpPr>
              <p:cNvPr id="5" name="Ellipse 5"/>
              <p:cNvSpPr/>
              <p:nvPr/>
            </p:nvSpPr>
            <p:spPr>
              <a:xfrm>
                <a:off x="16973550" y="2895600"/>
                <a:ext cx="152400" cy="152400"/>
              </a:xfrm>
              <a:prstGeom prst="ellipse">
                <a:avLst/>
              </a:prstGeom>
              <a:solidFill>
                <a:srgbClr val="48CAE4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0296373" y="2806700"/>
                <a:ext cx="6477533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 rtl="1"/>
                <a:r>
                  <a:rPr lang="fa" sz="1950" dirty="0">
                    <a:solidFill>
                      <a:srgbClr val="94A3B8"/>
                    </a:solidFill>
                    <a:latin typeface="Vazirmatn"/>
                    <a:ea typeface="Vazirmatn"/>
                    <a:cs typeface="Vazirmatn"/>
                    <a:rtl val="1"/>
                  </a:rPr>
                  <a:t>بهینه‌سازی تصمیم‌گیری‌های بالینی و پژوهش‌های دارویی</a:t>
                </a:r>
              </a:p>
            </p:txBody>
          </p:sp>
        </p:grpSp>
        <p:grpSp>
          <p:nvGrpSpPr>
            <p:cNvPr id="10" name="bullet_2"/>
            <p:cNvGrpSpPr/>
            <p:nvPr/>
          </p:nvGrpSpPr>
          <p:grpSpPr>
            <a:xfrm>
              <a:off x="11307032" y="3616325"/>
              <a:ext cx="5818918" cy="381381"/>
              <a:chOff x="11307032" y="3616325"/>
              <a:chExt cx="5818918" cy="381381"/>
            </a:xfrm>
          </p:grpSpPr>
          <p:sp>
            <p:nvSpPr>
              <p:cNvPr id="8" name="Ellipse 8"/>
              <p:cNvSpPr/>
              <p:nvPr/>
            </p:nvSpPr>
            <p:spPr>
              <a:xfrm>
                <a:off x="16973550" y="3705225"/>
                <a:ext cx="152400" cy="152400"/>
              </a:xfrm>
              <a:prstGeom prst="ellipse">
                <a:avLst/>
              </a:prstGeom>
              <a:solidFill>
                <a:srgbClr val="48CAE4"/>
              </a:solidFill>
              <a:ln>
                <a:noFill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11307032" y="3616325"/>
                <a:ext cx="5466874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 rtl="1"/>
                <a:r>
                  <a:rPr lang="fa" sz="1950" dirty="0">
                    <a:solidFill>
                      <a:srgbClr val="94A3B8"/>
                    </a:solidFill>
                    <a:latin typeface="Vazirmatn"/>
                    <a:ea typeface="Vazirmatn"/>
                    <a:cs typeface="Vazirmatn"/>
                    <a:rtl val="1"/>
                  </a:rPr>
                  <a:t>اتوماسیون فرایندهای پیچیده مهندسی و مالی</a:t>
                </a:r>
              </a:p>
            </p:txBody>
          </p:sp>
        </p:grpSp>
        <p:grpSp>
          <p:nvGrpSpPr>
            <p:cNvPr id="13" name="bullet_3"/>
            <p:cNvGrpSpPr/>
            <p:nvPr/>
          </p:nvGrpSpPr>
          <p:grpSpPr>
            <a:xfrm>
              <a:off x="11307032" y="4425950"/>
              <a:ext cx="5818918" cy="381381"/>
              <a:chOff x="11307032" y="4425950"/>
              <a:chExt cx="5818918" cy="381381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16973550" y="4514850"/>
                <a:ext cx="152400" cy="152400"/>
              </a:xfrm>
              <a:prstGeom prst="ellipse">
                <a:avLst/>
              </a:prstGeom>
              <a:solidFill>
                <a:srgbClr val="48CAE4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1307032" y="4425950"/>
                <a:ext cx="5466874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 rtl="1"/>
                <a:r>
                  <a:rPr lang="fa" sz="1950" dirty="0">
                    <a:solidFill>
                      <a:srgbClr val="94A3B8"/>
                    </a:solidFill>
                    <a:latin typeface="Vazirmatn"/>
                    <a:ea typeface="Vazirmatn"/>
                    <a:cs typeface="Vazirmatn"/>
                    <a:rtl val="1"/>
                  </a:rPr>
                  <a:t>شخصی‌سازی آموزش و ابزارهای یادگیری تطبیقی</a:t>
                </a:r>
              </a:p>
            </p:txBody>
          </p:sp>
        </p:grpSp>
        <p:grpSp>
          <p:nvGrpSpPr>
            <p:cNvPr id="16" name="bullet_4"/>
            <p:cNvGrpSpPr/>
            <p:nvPr/>
          </p:nvGrpSpPr>
          <p:grpSpPr>
            <a:xfrm>
              <a:off x="10217620" y="5235575"/>
              <a:ext cx="6908330" cy="381381"/>
              <a:chOff x="10217620" y="5235575"/>
              <a:chExt cx="6908330" cy="381381"/>
            </a:xfrm>
          </p:grpSpPr>
          <p:sp>
            <p:nvSpPr>
              <p:cNvPr id="14" name="Ellipse 14"/>
              <p:cNvSpPr/>
              <p:nvPr/>
            </p:nvSpPr>
            <p:spPr>
              <a:xfrm>
                <a:off x="16973550" y="5324475"/>
                <a:ext cx="152400" cy="152400"/>
              </a:xfrm>
              <a:prstGeom prst="ellipse">
                <a:avLst/>
              </a:prstGeom>
              <a:solidFill>
                <a:srgbClr val="48CAE4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10217620" y="5235575"/>
                <a:ext cx="6556286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 rtl="1"/>
                <a:r>
                  <a:rPr lang="fa" sz="1950" dirty="0">
                    <a:solidFill>
                      <a:srgbClr val="94A3B8"/>
                    </a:solidFill>
                    <a:latin typeface="Vazirmatn"/>
                    <a:ea typeface="Vazirmatn"/>
                    <a:cs typeface="Vazirmatn"/>
                    <a:rtl val="1"/>
                  </a:rPr>
                  <a:t>افزایش بهره‌وری تولید و نگهداری پیش‌بینانه تجهیزات</a:t>
                </a:r>
              </a:p>
            </p:txBody>
          </p:sp>
        </p:grpSp>
      </p:grpSp>
      <p:grpSp>
        <p:nvGrpSpPr>
          <p:cNvPr id="20" name="hero_image"/>
          <p:cNvGrpSpPr/>
          <p:nvPr/>
        </p:nvGrpSpPr>
        <p:grpSpPr>
          <a:xfrm>
            <a:off x="1143000" y="1714500"/>
            <a:ext cx="7429500" cy="7239000"/>
            <a:chOff x="1143000" y="1714500"/>
            <a:chExt cx="7429500" cy="7239000"/>
          </a:xfrm>
        </p:grpSpPr>
        <p:sp>
          <p:nvSpPr>
            <p:cNvPr id="18" name="Rectangle 18"/>
            <p:cNvSpPr/>
            <p:nvPr/>
          </p:nvSpPr>
          <p:spPr>
            <a:xfrm>
              <a:off x="1143000" y="1714500"/>
              <a:ext cx="7429500" cy="7239000"/>
            </a:xfrm>
            <a:prstGeom prst="roundRect">
              <a:avLst>
                <a:gd name="adj" fmla="val 2632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pic>
          <p:nvPicPr>
            <p:cNvPr id="19" name="Image 19"/>
            <p:cNvPicPr>
              <a:picLocks noChangeAspect="1"/>
            </p:cNvPicPr>
            <p:nvPr/>
          </p:nvPicPr>
          <p:blipFill>
            <a:blip r:embed="rId2"/>
            <a:srcRect l="15766" t="0" r="15766" b="0"/>
            <a:stretch>
              <a:fillRect/>
            </a:stretch>
          </p:blipFill>
          <p:spPr>
            <a:xfrm>
              <a:off x="1238250" y="1809750"/>
              <a:ext cx="7239000" cy="7048500"/>
            </a:xfrm>
            <a:prstGeom prst="rect">
              <a:avLst/>
            </a:prstGeom>
          </p:spPr>
        </p:pic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4" presetID="6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st_project">
  <a:themeElements>
    <a:clrScheme name="test_projec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est_project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st_projec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st_project">
  <a:themeElements>
    <a:clrScheme name="test_projec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est_project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st_projec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fa</dc:language>
  <cp:lastModifiedBy/>
  <cp:revision>1</cp:revision>
  <dcterms:created xsi:type="dcterms:W3CDTF">2026-10-10T16:52:15Z</dcterms:created>
  <dcterms:modified xsi:type="dcterms:W3CDTF">2026-10-10T16:52:15Z</dcterms:modified>
  <cp:category/>
  <cp:contentStatus/>
</cp:coreProperties>
</file>