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  <p:sldId id="259" r:id="rId10"/>
    <p:sldId id="260" r:id="rId11"/>
  </p:sldIdLst>
  <p:sldSz cx="18288000" cy="10287000" type="screen16x9"/>
  <p:notesSz cx="6858000" cy="9144000"/>
  <p:defaultTextStyle>
    <a:defPPr>
      <a:defRPr lang="fa"/>
    </a:defPPr>
    <a:lvl1pPr marL="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1pPr>
    <a:lvl2pPr marL="457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2pPr>
    <a:lvl3pPr marL="914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3pPr>
    <a:lvl4pPr marL="1371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4pPr>
    <a:lvl5pPr marL="18288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5pPr>
    <a:lvl6pPr marL="22860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6pPr>
    <a:lvl7pPr marL="2743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7pPr>
    <a:lvl8pPr marL="3200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8pPr>
    <a:lvl9pPr marL="3657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  <Relationship Id="rId1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 rtl="1">
      <a:defRPr sz="1200" lang="fa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1: هوش مصنوعی و آینده یادگیری ماشین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در این اسلاید آغازین، کلیات و اهمیت موج جدید مدل‌های هوش مصنوعی را مرور می‌کنیم.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2: سه ستون محوری معماری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ستون‌های سه‌گانه نشان‌دهنده معماری یکپارچه برای استقرار سیستم‌های هوش مصنوعی است.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3: مراحل گام‌به‌گام استقرار مدل در سازمان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فرآیند سه‌مرحله‌ای تضمین‌کننده پیاده‌سازی سریع و بدون ریسک است.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4: جهش شاخص‌های کلیدی پس از استقرار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شاخص‌های کلیدی آماری موید بهبود چشمگیر فرآیندها هستند.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5: مقایسه روش‌های سنتی با سامانه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اسلاید دلیل ضرورت مهاجرت به معماری‌های مدرن را تبیین می‌کند.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ject_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ject_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lang="fa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457200" rtl="1" eaLnBrk="1" latinLnBrk="0" hangingPunct="1">
        <a:spcBef>
          <a:spcPct val="20000"/>
        </a:spcBef>
        <a:buFont typeface="Arial"/>
        <a:buChar char="•"/>
        <a:defRPr sz="32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buFont typeface="Arial"/>
        <a:buChar char="–"/>
        <a:defRPr sz="2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ct val="20000"/>
        </a:spcBef>
        <a:buFont typeface="Arial"/>
        <a:buChar char="•"/>
        <a:defRPr sz="24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ct val="20000"/>
        </a:spcBef>
        <a:buFont typeface="Arial"/>
        <a:buChar char="–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ct val="20000"/>
        </a:spcBef>
        <a:buFont typeface="Arial"/>
        <a:buChar char="»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"/>
      </a:defPPr>
      <a:lvl1pPr marL="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ad83d41b46738f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ad83d41b46738f.jp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decor_bg"/>
          <p:cNvGrpSpPr/>
          <p:nvPr/>
        </p:nvGrpSpPr>
        <p:grpSpPr>
          <a:xfrm>
            <a:off x="542925" y="733425"/>
            <a:ext cx="19840575" cy="11839575"/>
            <a:chOff x="542925" y="733425"/>
            <a:chExt cx="19840575" cy="11839575"/>
          </a:xfrm>
        </p:grpSpPr>
        <p:sp>
          <p:nvSpPr>
            <p:cNvPr id="2" name="Ellipse 2"/>
            <p:cNvSpPr/>
            <p:nvPr/>
          </p:nvSpPr>
          <p:spPr>
            <a:xfrm>
              <a:off x="542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715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2287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4573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685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42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7715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001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2287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4573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685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42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15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0001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287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4573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85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2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7715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001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287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73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685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4287500" y="6477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48CAE4">
                  <a:alpha val="9600"/>
                </a:srgbClr>
              </a:solidFill>
              <a:custDash>
                <a:ds d="533333" sp="400000"/>
              </a:custDash>
            </a:ln>
          </p:spPr>
        </p:sp>
      </p:grpSp>
      <p:grpSp>
        <p:nvGrpSpPr>
          <p:cNvPr id="30" name="kicker_pill"/>
          <p:cNvGrpSpPr/>
          <p:nvPr/>
        </p:nvGrpSpPr>
        <p:grpSpPr>
          <a:xfrm>
            <a:off x="11753850" y="2286000"/>
            <a:ext cx="4629150" cy="419100"/>
            <a:chOff x="11753850" y="2286000"/>
            <a:chExt cx="4629150" cy="419100"/>
          </a:xfrm>
        </p:grpSpPr>
        <p:sp>
          <p:nvSpPr>
            <p:cNvPr id="28" name="Rectangle 28"/>
            <p:cNvSpPr/>
            <p:nvPr/>
          </p:nvSpPr>
          <p:spPr>
            <a:xfrm>
              <a:off x="11753850" y="2286000"/>
              <a:ext cx="4629150" cy="419100"/>
            </a:xfrm>
            <a:prstGeom prst="roundRect">
              <a:avLst>
                <a:gd name="adj" fmla="val 50000"/>
              </a:avLst>
            </a:prstGeom>
            <a:solidFill>
              <a:srgbClr val="16294A"/>
            </a:solidFill>
            <a:ln w="14288">
              <a:solidFill>
                <a:srgbClr val="48CAE4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740112" y="2397125"/>
              <a:ext cx="26566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ارائه تخصصی فناوری و نوآوری</a:t>
              </a:r>
            </a:p>
          </p:txBody>
        </p:sp>
      </p:grpSp>
      <p:grpSp>
        <p:nvGrpSpPr>
          <p:cNvPr id="33" name="title_group"/>
          <p:cNvGrpSpPr/>
          <p:nvPr/>
        </p:nvGrpSpPr>
        <p:grpSpPr>
          <a:xfrm>
            <a:off x="5270724" y="3035300"/>
            <a:ext cx="11131326" cy="1598168"/>
            <a:chOff x="5270724" y="3035300"/>
            <a:chExt cx="11131326" cy="1598168"/>
          </a:xfrm>
        </p:grpSpPr>
        <p:sp>
          <p:nvSpPr>
            <p:cNvPr id="31" name="TextBox 31"/>
            <p:cNvSpPr txBox="1"/>
            <p:nvPr/>
          </p:nvSpPr>
          <p:spPr>
            <a:xfrm>
              <a:off x="5270724" y="3035300"/>
              <a:ext cx="1113132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48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هوش مصنوعی و آینده یادگیری ماشین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96903" y="4222750"/>
              <a:ext cx="889676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00B4D8"/>
                  </a:solidFill>
                  <a:latin typeface="Yekan Bakh"/>
                  <a:ea typeface="Yekan Bakh"/>
                  <a:cs typeface="Yekan Bakh"/>
                  <a:rtl val="1"/>
                </a:rPr>
                <a:t>تحول بنیادین در الگوهای پردازش کلان‌داده و تصمیم‌گیری هوشمند</a:t>
              </a:r>
            </a:p>
          </p:txBody>
        </p:sp>
      </p:grpSp>
      <p:grpSp>
        <p:nvGrpSpPr>
          <p:cNvPr id="35" name="accent_bar"/>
          <p:cNvGrpSpPr/>
          <p:nvPr/>
        </p:nvGrpSpPr>
        <p:grpSpPr>
          <a:xfrm>
            <a:off x="16573500" y="3095625"/>
            <a:ext cx="76200" cy="1428750"/>
            <a:chOff x="16573500" y="3095625"/>
            <a:chExt cx="76200" cy="1428750"/>
          </a:xfrm>
        </p:grpSpPr>
        <p:sp>
          <p:nvSpPr>
            <p:cNvPr id="34" name="Rectangle 34"/>
            <p:cNvSpPr/>
            <p:nvPr/>
          </p:nvSpPr>
          <p:spPr>
            <a:xfrm>
              <a:off x="16573500" y="3095625"/>
              <a:ext cx="76200" cy="1428750"/>
            </a:xfrm>
            <a:prstGeom prst="roundRect">
              <a:avLst>
                <a:gd name="adj" fmla="val 50000"/>
              </a:avLst>
            </a:prstGeom>
            <a:solidFill>
              <a:srgbClr val="48CAE4"/>
            </a:solidFill>
            <a:ln>
              <a:noFill/>
            </a:ln>
          </p:spPr>
        </p:sp>
      </p:grpSp>
      <p:grpSp>
        <p:nvGrpSpPr>
          <p:cNvPr id="41" name="author_chip"/>
          <p:cNvGrpSpPr/>
          <p:nvPr/>
        </p:nvGrpSpPr>
        <p:grpSpPr>
          <a:xfrm>
            <a:off x="11963400" y="5429250"/>
            <a:ext cx="4419600" cy="533400"/>
            <a:chOff x="11963400" y="5429250"/>
            <a:chExt cx="4419600" cy="533400"/>
          </a:xfrm>
        </p:grpSpPr>
        <p:sp>
          <p:nvSpPr>
            <p:cNvPr id="36" name="Rectangle 36"/>
            <p:cNvSpPr/>
            <p:nvPr/>
          </p:nvSpPr>
          <p:spPr>
            <a:xfrm>
              <a:off x="11963400" y="5429250"/>
              <a:ext cx="4419600" cy="533400"/>
            </a:xfrm>
            <a:prstGeom prst="roundRect">
              <a:avLst>
                <a:gd name="adj" fmla="val 28571"/>
              </a:avLst>
            </a:prstGeom>
            <a:solidFill>
              <a:srgbClr val="1C2541"/>
            </a:solidFill>
            <a:ln w="14288">
              <a:solidFill>
                <a:srgbClr val="3A506B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6025812" y="5593556"/>
              <a:ext cx="123825" cy="185737"/>
              <a:chOff x="16025812" y="5593556"/>
              <a:chExt cx="123825" cy="185737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6046450" y="5593556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20638" cap="rnd">
                <a:solidFill>
                  <a:srgbClr val="48CAE4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6025812" y="5717381"/>
                <a:ext cx="1238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61912">
                    <a:moveTo>
                      <a:pt x="0" y="61912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lnTo>
                      <a:pt x="82550" y="0"/>
                    </a:lnTo>
                    <a:cubicBezTo>
                      <a:pt x="105346" y="0"/>
                      <a:pt x="123825" y="18479"/>
                      <a:pt x="123825" y="41275"/>
                    </a:cubicBezTo>
                    <a:lnTo>
                      <a:pt x="123825" y="61912"/>
                    </a:lnTo>
                  </a:path>
                </a:pathLst>
              </a:custGeom>
              <a:noFill/>
              <a:ln w="20638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2885991" y="5584825"/>
              <a:ext cx="29331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دکتر احسان حسینی | پاییز ۱۴۰۵</a:t>
              </a:r>
            </a:p>
          </p:txBody>
        </p:sp>
      </p:grpSp>
      <p:grpSp>
        <p:nvGrpSpPr>
          <p:cNvPr id="46" name="hero_image"/>
          <p:cNvGrpSpPr/>
          <p:nvPr/>
        </p:nvGrpSpPr>
        <p:grpSpPr>
          <a:xfrm>
            <a:off x="1143000" y="1905000"/>
            <a:ext cx="7143750" cy="6286500"/>
            <a:chOff x="1143000" y="1905000"/>
            <a:chExt cx="7143750" cy="6286500"/>
          </a:xfrm>
        </p:grpSpPr>
        <p:sp>
          <p:nvSpPr>
            <p:cNvPr id="42" name="Rectangle 42"/>
            <p:cNvSpPr/>
            <p:nvPr/>
          </p:nvSpPr>
          <p:spPr>
            <a:xfrm>
              <a:off x="1143000" y="1905000"/>
              <a:ext cx="7143750" cy="6286500"/>
            </a:xfrm>
            <a:prstGeom prst="roundRect">
              <a:avLst>
                <a:gd name="adj" fmla="val 4848"/>
              </a:avLst>
            </a:prstGeom>
            <a:solidFill>
              <a:srgbClr val="1C2541"/>
            </a:solidFill>
            <a:ln w="23812">
              <a:solidFill>
                <a:srgbClr val="48CAE4"/>
              </a:solidFill>
            </a:ln>
          </p:spPr>
        </p:sp>
        <p:pic>
          <p:nvPicPr>
            <p:cNvPr id="43" name="Image 43"/>
            <p:cNvPicPr>
              <a:picLocks noChangeAspect="1"/>
            </p:cNvPicPr>
            <p:nvPr/>
          </p:nvPicPr>
          <p:blipFill>
            <a:blip r:embed="rId2"/>
            <a:srcRect l="11950" t="0" r="11949" b="0"/>
            <a:stretch>
              <a:fillRect/>
            </a:stretch>
          </p:blipFill>
          <p:spPr>
            <a:xfrm>
              <a:off x="1257300" y="2019300"/>
              <a:ext cx="6915150" cy="6057900"/>
            </a:xfrm>
            <a:prstGeom prst="rect">
              <a:avLst/>
            </a:prstGeom>
          </p:spPr>
        </p:pic>
        <p:sp>
          <p:nvSpPr>
            <p:cNvPr id="44" name="Rectangle 44"/>
            <p:cNvSpPr/>
            <p:nvPr/>
          </p:nvSpPr>
          <p:spPr>
            <a:xfrm>
              <a:off x="1524000" y="7429500"/>
              <a:ext cx="2095500" cy="476250"/>
            </a:xfrm>
            <a:prstGeom prst="roundRect">
              <a:avLst>
                <a:gd name="adj" fmla="val 50000"/>
              </a:avLst>
            </a:prstGeom>
            <a:solidFill>
              <a:srgbClr val="0B132B">
                <a:alpha val="90000"/>
              </a:srgbClr>
            </a:solidFill>
            <a:ln w="14288">
              <a:solidFill>
                <a:srgbClr val="00B4D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701414" y="7569200"/>
              <a:ext cx="17406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✦ هوش مصنوعی ۲۰۲۶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3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18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3" presetID="8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decor_bg"/>
          <p:cNvGrpSpPr/>
          <p:nvPr/>
        </p:nvGrpSpPr>
        <p:grpSpPr>
          <a:xfrm>
            <a:off x="542925" y="733425"/>
            <a:ext cx="19840575" cy="11839575"/>
            <a:chOff x="542925" y="733425"/>
            <a:chExt cx="19840575" cy="11839575"/>
          </a:xfrm>
        </p:grpSpPr>
        <p:sp>
          <p:nvSpPr>
            <p:cNvPr id="2" name="Ellipse 2"/>
            <p:cNvSpPr/>
            <p:nvPr/>
          </p:nvSpPr>
          <p:spPr>
            <a:xfrm>
              <a:off x="542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715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2287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4573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685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42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7715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001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2287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4573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685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42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15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0001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287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4573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85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2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7715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001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287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73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685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4287500" y="6477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48CAE4">
                  <a:alpha val="9600"/>
                </a:srgbClr>
              </a:solidFill>
              <a:custDash>
                <a:ds d="533333" sp="400000"/>
              </a:custDash>
            </a:ln>
          </p:spPr>
        </p:sp>
      </p:grpSp>
      <p:grpSp>
        <p:nvGrpSpPr>
          <p:cNvPr id="30" name="header_group"/>
          <p:cNvGrpSpPr/>
          <p:nvPr/>
        </p:nvGrpSpPr>
        <p:grpSpPr>
          <a:xfrm>
            <a:off x="10078951" y="869950"/>
            <a:ext cx="7084337" cy="1008888"/>
            <a:chOff x="10078951" y="869950"/>
            <a:chExt cx="7084337" cy="1008888"/>
          </a:xfrm>
        </p:grpSpPr>
        <p:sp>
          <p:nvSpPr>
            <p:cNvPr id="28" name="TextBox 28"/>
            <p:cNvSpPr txBox="1"/>
            <p:nvPr/>
          </p:nvSpPr>
          <p:spPr>
            <a:xfrm>
              <a:off x="15260945" y="869950"/>
              <a:ext cx="1891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ارکان کلیدی سیستم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078951" y="1174750"/>
              <a:ext cx="708433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سه ستون محوری معماری هوشمند</a:t>
              </a:r>
            </a:p>
          </p:txBody>
        </p:sp>
      </p:grpSp>
      <p:grpSp>
        <p:nvGrpSpPr>
          <p:cNvPr id="48" name="card_1"/>
          <p:cNvGrpSpPr/>
          <p:nvPr/>
        </p:nvGrpSpPr>
        <p:grpSpPr>
          <a:xfrm>
            <a:off x="12065000" y="2286000"/>
            <a:ext cx="5080000" cy="6572250"/>
            <a:chOff x="12065000" y="2286000"/>
            <a:chExt cx="5080000" cy="6572250"/>
          </a:xfrm>
        </p:grpSpPr>
        <p:sp>
          <p:nvSpPr>
            <p:cNvPr id="31" name="Rectangle 31"/>
            <p:cNvSpPr/>
            <p:nvPr/>
          </p:nvSpPr>
          <p:spPr>
            <a:xfrm>
              <a:off x="12065000" y="2286000"/>
              <a:ext cx="5080000" cy="657225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6078200" y="2667000"/>
              <a:ext cx="685800" cy="685800"/>
            </a:xfrm>
            <a:prstGeom prst="roundRect">
              <a:avLst>
                <a:gd name="adj" fmla="val 27778"/>
              </a:avLst>
            </a:prstGeom>
            <a:solidFill>
              <a:srgbClr val="16294A"/>
            </a:solidFill>
            <a:ln w="19050">
              <a:solidFill>
                <a:srgbClr val="48CAE4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6278225" y="2867025"/>
              <a:ext cx="285750" cy="285750"/>
              <a:chOff x="16278225" y="2867025"/>
              <a:chExt cx="285750" cy="28575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6421100" y="3025775"/>
                <a:ext cx="1111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27000">
                    <a:moveTo>
                      <a:pt x="55562" y="0"/>
                    </a:moveTo>
                    <a:cubicBezTo>
                      <a:pt x="24876" y="0"/>
                      <a:pt x="0" y="24876"/>
                      <a:pt x="0" y="55562"/>
                    </a:cubicBezTo>
                    <a:lnTo>
                      <a:pt x="0" y="71438"/>
                    </a:lnTo>
                    <a:cubicBezTo>
                      <a:pt x="0" y="102124"/>
                      <a:pt x="24876" y="127000"/>
                      <a:pt x="55562" y="127000"/>
                    </a:cubicBezTo>
                    <a:cubicBezTo>
                      <a:pt x="86249" y="127000"/>
                      <a:pt x="111125" y="102124"/>
                      <a:pt x="111125" y="71438"/>
                    </a:cubicBezTo>
                    <a:lnTo>
                      <a:pt x="111125" y="42862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6309975" y="3025775"/>
                <a:ext cx="1111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27000">
                    <a:moveTo>
                      <a:pt x="55563" y="0"/>
                    </a:moveTo>
                    <a:cubicBezTo>
                      <a:pt x="86249" y="0"/>
                      <a:pt x="111125" y="24876"/>
                      <a:pt x="111125" y="55562"/>
                    </a:cubicBezTo>
                    <a:lnTo>
                      <a:pt x="111125" y="71438"/>
                    </a:lnTo>
                    <a:cubicBezTo>
                      <a:pt x="111125" y="102124"/>
                      <a:pt x="86249" y="127000"/>
                      <a:pt x="55563" y="127000"/>
                    </a:cubicBezTo>
                    <a:cubicBezTo>
                      <a:pt x="24876" y="127000"/>
                      <a:pt x="0" y="102124"/>
                      <a:pt x="0" y="71438"/>
                    </a:cubicBezTo>
                    <a:lnTo>
                      <a:pt x="0" y="42862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6500475" y="2962275"/>
                <a:ext cx="6350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111125">
                    <a:moveTo>
                      <a:pt x="7938" y="111125"/>
                    </a:moveTo>
                    <a:cubicBezTo>
                      <a:pt x="38624" y="111125"/>
                      <a:pt x="63500" y="86249"/>
                      <a:pt x="63500" y="55562"/>
                    </a:cubicBezTo>
                    <a:cubicBezTo>
                      <a:pt x="63500" y="24876"/>
                      <a:pt x="38624" y="0"/>
                      <a:pt x="793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6421100" y="2867025"/>
                <a:ext cx="1111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00012">
                    <a:moveTo>
                      <a:pt x="111125" y="100012"/>
                    </a:moveTo>
                    <a:lnTo>
                      <a:pt x="111125" y="55562"/>
                    </a:lnTo>
                    <a:cubicBezTo>
                      <a:pt x="111125" y="24876"/>
                      <a:pt x="86249" y="0"/>
                      <a:pt x="55562" y="0"/>
                    </a:cubicBezTo>
                    <a:cubicBezTo>
                      <a:pt x="24876" y="0"/>
                      <a:pt x="0" y="24876"/>
                      <a:pt x="0" y="55562"/>
                    </a:cubicBez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6278225" y="2962275"/>
                <a:ext cx="6350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111125">
                    <a:moveTo>
                      <a:pt x="55562" y="111125"/>
                    </a:moveTo>
                    <a:cubicBezTo>
                      <a:pt x="24876" y="111125"/>
                      <a:pt x="0" y="86249"/>
                      <a:pt x="0" y="55562"/>
                    </a:cubicBezTo>
                    <a:cubicBezTo>
                      <a:pt x="0" y="24876"/>
                      <a:pt x="24876" y="0"/>
                      <a:pt x="55562" y="0"/>
                    </a:cubicBezTo>
                    <a:lnTo>
                      <a:pt x="6350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6309975" y="2867025"/>
                <a:ext cx="111125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214312">
                    <a:moveTo>
                      <a:pt x="0" y="100012"/>
                    </a:moveTo>
                    <a:lnTo>
                      <a:pt x="0" y="55562"/>
                    </a:lnTo>
                    <a:cubicBezTo>
                      <a:pt x="0" y="24876"/>
                      <a:pt x="24876" y="0"/>
                      <a:pt x="55563" y="0"/>
                    </a:cubicBezTo>
                    <a:cubicBezTo>
                      <a:pt x="86249" y="0"/>
                      <a:pt x="111125" y="24876"/>
                      <a:pt x="111125" y="55562"/>
                    </a:cubicBezTo>
                    <a:lnTo>
                      <a:pt x="111125" y="214312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2433808" y="2813050"/>
              <a:ext cx="21096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2400" b="1" dirty="0">
                  <a:solidFill>
                    <a:srgbClr val="3A506B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126324" y="3698875"/>
              <a:ext cx="26483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شبکه‌های عصبی عمیق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16640175" y="44577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3925169" y="4394200"/>
              <a:ext cx="2579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مدل‌های ترنسفورمر چندوجهی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16640175" y="489585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3864590" y="483235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پردازش زبان طبیعی پیشرفته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16640175" y="53340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3349668" y="5270500"/>
              <a:ext cx="315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تولید تصاویر و مدیا با دقت بالا</a:t>
              </a:r>
            </a:p>
          </p:txBody>
        </p:sp>
      </p:grpSp>
      <p:grpSp>
        <p:nvGrpSpPr>
          <p:cNvPr id="70" name="card_2"/>
          <p:cNvGrpSpPr/>
          <p:nvPr/>
        </p:nvGrpSpPr>
        <p:grpSpPr>
          <a:xfrm>
            <a:off x="6604000" y="2286000"/>
            <a:ext cx="5080000" cy="6572250"/>
            <a:chOff x="6604000" y="2286000"/>
            <a:chExt cx="5080000" cy="6572250"/>
          </a:xfrm>
        </p:grpSpPr>
        <p:sp>
          <p:nvSpPr>
            <p:cNvPr id="49" name="Rectangle 49"/>
            <p:cNvSpPr/>
            <p:nvPr/>
          </p:nvSpPr>
          <p:spPr>
            <a:xfrm>
              <a:off x="6604000" y="2286000"/>
              <a:ext cx="5080000" cy="657225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617200" y="2667000"/>
              <a:ext cx="685800" cy="685800"/>
            </a:xfrm>
            <a:prstGeom prst="roundRect">
              <a:avLst>
                <a:gd name="adj" fmla="val 27778"/>
              </a:avLst>
            </a:prstGeom>
            <a:solidFill>
              <a:srgbClr val="16294A"/>
            </a:solidFill>
            <a:ln w="19050">
              <a:solidFill>
                <a:srgbClr val="48CAE4"/>
              </a:solidFill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10817225" y="2867025"/>
              <a:ext cx="285750" cy="285750"/>
              <a:chOff x="10817225" y="2867025"/>
              <a:chExt cx="285750" cy="28575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10848975" y="2898775"/>
                <a:ext cx="222250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2225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206375" y="0"/>
                    </a:lnTo>
                    <a:cubicBezTo>
                      <a:pt x="215143" y="0"/>
                      <a:pt x="222250" y="7107"/>
                      <a:pt x="222250" y="15875"/>
                    </a:cubicBezTo>
                    <a:lnTo>
                      <a:pt x="222250" y="206375"/>
                    </a:lnTo>
                    <a:cubicBezTo>
                      <a:pt x="222250" y="215143"/>
                      <a:pt x="215143" y="222250"/>
                      <a:pt x="206375" y="222250"/>
                    </a:cubicBezTo>
                    <a:lnTo>
                      <a:pt x="15875" y="222250"/>
                    </a:lnTo>
                    <a:cubicBezTo>
                      <a:pt x="7107" y="222250"/>
                      <a:pt x="0" y="215143"/>
                      <a:pt x="0" y="20637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0912475" y="29622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0"/>
                    </a:moveTo>
                    <a:lnTo>
                      <a:pt x="95250" y="0"/>
                    </a:lnTo>
                    <a:lnTo>
                      <a:pt x="95250" y="95250"/>
                    </a:lnTo>
                    <a:lnTo>
                      <a:pt x="0" y="95250"/>
                    </a:ln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10817225" y="29781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10817225" y="30416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10928350" y="2867025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0991850" y="2867025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11071225" y="29781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31750" y="0"/>
                    </a:move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11071225" y="30416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31750" y="0"/>
                    </a:move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10991850" y="3121025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31750"/>
                    </a:move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10928350" y="3121025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31750"/>
                    </a:moveTo>
                    <a:lnTo>
                      <a:pt x="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972808" y="2813050"/>
              <a:ext cx="21096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2400" b="1" dirty="0">
                  <a:solidFill>
                    <a:srgbClr val="3A506B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49022" y="3698875"/>
              <a:ext cx="34646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زیرساخت ابری مقیاس‌پذیر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11179175" y="44577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190992" y="4394200"/>
              <a:ext cx="2852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کلاسترهای پردازش GPU و TPU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11179175" y="489585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686292" y="4832350"/>
              <a:ext cx="2357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سیستم‌های توزیع‌شده داده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11179175" y="53340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724100" y="5270500"/>
              <a:ext cx="3319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پایپ‌لاین‌های بلادرنگ (Real-time)</a:t>
              </a:r>
            </a:p>
          </p:txBody>
        </p:sp>
      </p:grpSp>
      <p:grpSp>
        <p:nvGrpSpPr>
          <p:cNvPr id="84" name="card_3"/>
          <p:cNvGrpSpPr/>
          <p:nvPr/>
        </p:nvGrpSpPr>
        <p:grpSpPr>
          <a:xfrm>
            <a:off x="1143000" y="2286000"/>
            <a:ext cx="5080000" cy="6572250"/>
            <a:chOff x="1143000" y="2286000"/>
            <a:chExt cx="5080000" cy="6572250"/>
          </a:xfrm>
        </p:grpSpPr>
        <p:sp>
          <p:nvSpPr>
            <p:cNvPr id="71" name="Rectangle 71"/>
            <p:cNvSpPr/>
            <p:nvPr/>
          </p:nvSpPr>
          <p:spPr>
            <a:xfrm>
              <a:off x="1143000" y="2286000"/>
              <a:ext cx="5080000" cy="657225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5156200" y="2667000"/>
              <a:ext cx="685800" cy="685800"/>
            </a:xfrm>
            <a:prstGeom prst="roundRect">
              <a:avLst>
                <a:gd name="adj" fmla="val 27778"/>
              </a:avLst>
            </a:prstGeom>
            <a:solidFill>
              <a:srgbClr val="16294A"/>
            </a:solidFill>
            <a:ln w="19050">
              <a:solidFill>
                <a:srgbClr val="48CAE4"/>
              </a:solidFill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5334801" y="2867025"/>
              <a:ext cx="310011" cy="285750"/>
              <a:chOff x="5334801" y="2867025"/>
              <a:chExt cx="310011" cy="28575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5334801" y="2867025"/>
                <a:ext cx="310011" cy="283305"/>
              </a:xfrm>
              <a:custGeom>
                <a:avLst/>
                <a:gdLst/>
                <a:ahLst/>
                <a:cxnLst/>
                <a:rect l="l" t="t" r="r" b="b"/>
                <a:pathLst>
                  <a:path w="310011" h="283305">
                    <a:moveTo>
                      <a:pt x="155727" y="283305"/>
                    </a:moveTo>
                    <a:cubicBezTo>
                      <a:pt x="56277" y="252478"/>
                      <a:pt x="0" y="147517"/>
                      <a:pt x="29362" y="47625"/>
                    </a:cubicBezTo>
                    <a:cubicBezTo>
                      <a:pt x="78821" y="49888"/>
                      <a:pt x="127218" y="32807"/>
                      <a:pt x="164299" y="0"/>
                    </a:cubicBezTo>
                    <a:cubicBezTo>
                      <a:pt x="201380" y="32807"/>
                      <a:pt x="249778" y="49888"/>
                      <a:pt x="299237" y="47625"/>
                    </a:cubicBezTo>
                    <a:cubicBezTo>
                      <a:pt x="310011" y="84282"/>
                      <a:pt x="309513" y="123332"/>
                      <a:pt x="297808" y="159702"/>
                    </a:cubicBez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5546725" y="3089275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317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511808" y="2813050"/>
              <a:ext cx="21096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2400" b="1" dirty="0">
                  <a:solidFill>
                    <a:srgbClr val="3A506B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3115273" y="3698875"/>
              <a:ext cx="273739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امنیت و حریم خصوصی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5718175" y="44577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3114230" y="4394200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رمزنگاری سرتاسری داده‌ها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5718175" y="489585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2609406" y="4832350"/>
              <a:ext cx="29735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انطباق با استانداردهای جهانی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5718175" y="5334000"/>
              <a:ext cx="95250" cy="95250"/>
            </a:xfrm>
            <a:prstGeom prst="ellipse">
              <a:avLst/>
            </a:prstGeom>
            <a:solidFill>
              <a:srgbClr val="00B4D8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2548827" y="5270500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حفاظت از اطلاعات حساس کاربران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4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decor_bg"/>
          <p:cNvGrpSpPr/>
          <p:nvPr/>
        </p:nvGrpSpPr>
        <p:grpSpPr>
          <a:xfrm>
            <a:off x="542925" y="733425"/>
            <a:ext cx="19840575" cy="11839575"/>
            <a:chOff x="542925" y="733425"/>
            <a:chExt cx="19840575" cy="11839575"/>
          </a:xfrm>
        </p:grpSpPr>
        <p:sp>
          <p:nvSpPr>
            <p:cNvPr id="2" name="Ellipse 2"/>
            <p:cNvSpPr/>
            <p:nvPr/>
          </p:nvSpPr>
          <p:spPr>
            <a:xfrm>
              <a:off x="542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715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2287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4573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685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42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7715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001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2287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4573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685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42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15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0001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287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4573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85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2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7715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001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287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73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685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4287500" y="6477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48CAE4">
                  <a:alpha val="9600"/>
                </a:srgbClr>
              </a:solidFill>
              <a:custDash>
                <a:ds d="533333" sp="400000"/>
              </a:custDash>
            </a:ln>
          </p:spPr>
        </p:sp>
      </p:grpSp>
      <p:grpSp>
        <p:nvGrpSpPr>
          <p:cNvPr id="30" name="header_group"/>
          <p:cNvGrpSpPr/>
          <p:nvPr/>
        </p:nvGrpSpPr>
        <p:grpSpPr>
          <a:xfrm>
            <a:off x="7687292" y="869950"/>
            <a:ext cx="9475996" cy="1008888"/>
            <a:chOff x="7687292" y="869950"/>
            <a:chExt cx="9475996" cy="1008888"/>
          </a:xfrm>
        </p:grpSpPr>
        <p:sp>
          <p:nvSpPr>
            <p:cNvPr id="28" name="TextBox 28"/>
            <p:cNvSpPr txBox="1"/>
            <p:nvPr/>
          </p:nvSpPr>
          <p:spPr>
            <a:xfrm>
              <a:off x="15144331" y="869950"/>
              <a:ext cx="20082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نقشه راه پیاده‌سازی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87292" y="1174750"/>
              <a:ext cx="94759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مراحل گام‌به‌گام استقرار مدل در سازمان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1619250" y="2476500"/>
            <a:ext cx="15049500" cy="9525"/>
          </a:xfrm>
          <a:custGeom>
            <a:avLst/>
            <a:gdLst/>
            <a:ahLst/>
            <a:cxnLst/>
            <a:rect l="l" t="t" r="r" b="b"/>
            <a:pathLst>
              <a:path w="15049500" h="9525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38100">
            <a:solidFill>
              <a:srgbClr val="3A506B"/>
            </a:solidFill>
            <a:custDash>
              <a:ds d="250000" sp="200000"/>
            </a:custDash>
          </a:ln>
        </p:spPr>
      </p:sp>
      <p:grpSp>
        <p:nvGrpSpPr>
          <p:cNvPr id="44" name="step_1"/>
          <p:cNvGrpSpPr/>
          <p:nvPr/>
        </p:nvGrpSpPr>
        <p:grpSpPr>
          <a:xfrm>
            <a:off x="12065000" y="2209800"/>
            <a:ext cx="5080000" cy="6172200"/>
            <a:chOff x="12065000" y="2209800"/>
            <a:chExt cx="5080000" cy="6172200"/>
          </a:xfrm>
        </p:grpSpPr>
        <p:sp>
          <p:nvSpPr>
            <p:cNvPr id="32" name="Ellipse 32"/>
            <p:cNvSpPr/>
            <p:nvPr/>
          </p:nvSpPr>
          <p:spPr>
            <a:xfrm>
              <a:off x="14338300" y="2209800"/>
              <a:ext cx="533400" cy="533400"/>
            </a:xfrm>
            <a:prstGeom prst="ellipse">
              <a:avLst/>
            </a:prstGeom>
            <a:solidFill>
              <a:srgbClr val="1C2541"/>
            </a:solidFill>
            <a:ln w="28575">
              <a:solidFill>
                <a:srgbClr val="48CAE4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4532480" y="2359025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2065000" y="2857500"/>
              <a:ext cx="5080000" cy="552450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4300200" y="3200400"/>
              <a:ext cx="609600" cy="609600"/>
            </a:xfrm>
            <a:prstGeom prst="roundRect">
              <a:avLst>
                <a:gd name="adj" fmla="val 28125"/>
              </a:avLst>
            </a:prstGeom>
            <a:solidFill>
              <a:srgbClr val="16294A"/>
            </a:solidFill>
            <a:ln w="14288">
              <a:solidFill>
                <a:srgbClr val="00B4D8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4490700" y="3376612"/>
              <a:ext cx="228600" cy="257176"/>
              <a:chOff x="14490700" y="3376612"/>
              <a:chExt cx="228600" cy="25717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14490700" y="3376612"/>
                <a:ext cx="2286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5725">
                    <a:moveTo>
                      <a:pt x="0" y="42862"/>
                    </a:moveTo>
                    <a:cubicBezTo>
                      <a:pt x="0" y="66535"/>
                      <a:pt x="51174" y="85725"/>
                      <a:pt x="114300" y="85725"/>
                    </a:cubicBezTo>
                    <a:cubicBezTo>
                      <a:pt x="177426" y="85725"/>
                      <a:pt x="228600" y="66535"/>
                      <a:pt x="228600" y="42862"/>
                    </a:cubicBezTo>
                    <a:cubicBezTo>
                      <a:pt x="228600" y="19190"/>
                      <a:pt x="177426" y="0"/>
                      <a:pt x="114300" y="0"/>
                    </a:cubicBezTo>
                    <a:cubicBezTo>
                      <a:pt x="51174" y="0"/>
                      <a:pt x="0" y="19190"/>
                      <a:pt x="0" y="42862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4490700" y="3419475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4490700" y="3505200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3265158" y="4140200"/>
              <a:ext cx="26796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9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یکپارچه‌سازی داده‌ها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414914" y="477520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جمع‌آوری و پاک‌سازی داده‌ها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4472262" y="51371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اعتبارسنجی خطاهای ورودی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4414914" y="549910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ایجاد خطوط انتقال خودکار</a:t>
              </a:r>
            </a:p>
          </p:txBody>
        </p:sp>
      </p:grpSp>
      <p:grpSp>
        <p:nvGrpSpPr>
          <p:cNvPr id="57" name="step_2"/>
          <p:cNvGrpSpPr/>
          <p:nvPr/>
        </p:nvGrpSpPr>
        <p:grpSpPr>
          <a:xfrm>
            <a:off x="6604000" y="2209800"/>
            <a:ext cx="5080000" cy="6172200"/>
            <a:chOff x="6604000" y="2209800"/>
            <a:chExt cx="5080000" cy="6172200"/>
          </a:xfrm>
        </p:grpSpPr>
        <p:sp>
          <p:nvSpPr>
            <p:cNvPr id="45" name="Ellipse 45"/>
            <p:cNvSpPr/>
            <p:nvPr/>
          </p:nvSpPr>
          <p:spPr>
            <a:xfrm>
              <a:off x="8877300" y="2209800"/>
              <a:ext cx="533400" cy="533400"/>
            </a:xfrm>
            <a:prstGeom prst="ellipse">
              <a:avLst/>
            </a:prstGeom>
            <a:solidFill>
              <a:srgbClr val="1C2541"/>
            </a:solidFill>
            <a:ln w="28575">
              <a:solidFill>
                <a:srgbClr val="48CAE4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071480" y="2359025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604000" y="2857500"/>
              <a:ext cx="5080000" cy="552450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839200" y="3200400"/>
              <a:ext cx="609600" cy="609600"/>
            </a:xfrm>
            <a:prstGeom prst="roundRect">
              <a:avLst>
                <a:gd name="adj" fmla="val 28125"/>
              </a:avLst>
            </a:prstGeom>
            <a:solidFill>
              <a:srgbClr val="16294A"/>
            </a:solidFill>
            <a:ln w="14288">
              <a:solidFill>
                <a:srgbClr val="00B4D8"/>
              </a:solidFill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9025187" y="3390900"/>
              <a:ext cx="233113" cy="233113"/>
              <a:chOff x="9025187" y="3390900"/>
              <a:chExt cx="233113" cy="23311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9029700" y="33909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128588"/>
                    </a:moveTo>
                    <a:cubicBezTo>
                      <a:pt x="52438" y="134819"/>
                      <a:pt x="93781" y="176162"/>
                      <a:pt x="100012" y="228600"/>
                    </a:cubicBezTo>
                    <a:cubicBezTo>
                      <a:pt x="125688" y="213798"/>
                      <a:pt x="141897" y="186783"/>
                      <a:pt x="142875" y="157162"/>
                    </a:cubicBezTo>
                    <a:cubicBezTo>
                      <a:pt x="191935" y="139904"/>
                      <a:pt x="225769" y="94793"/>
                      <a:pt x="228600" y="42862"/>
                    </a:cubicBezTo>
                    <a:cubicBezTo>
                      <a:pt x="228600" y="19190"/>
                      <a:pt x="209410" y="0"/>
                      <a:pt x="185738" y="0"/>
                    </a:cubicBezTo>
                    <a:cubicBezTo>
                      <a:pt x="133807" y="2831"/>
                      <a:pt x="88696" y="36665"/>
                      <a:pt x="71438" y="85725"/>
                    </a:cubicBezTo>
                    <a:cubicBezTo>
                      <a:pt x="41817" y="86703"/>
                      <a:pt x="14802" y="102912"/>
                      <a:pt x="0" y="128588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025187" y="3533775"/>
                <a:ext cx="90238" cy="90238"/>
              </a:xfrm>
              <a:custGeom>
                <a:avLst/>
                <a:gdLst/>
                <a:ahLst/>
                <a:cxnLst/>
                <a:rect l="l" t="t" r="r" b="b"/>
                <a:pathLst>
                  <a:path w="90238" h="90238">
                    <a:moveTo>
                      <a:pt x="47375" y="0"/>
                    </a:moveTo>
                    <a:cubicBezTo>
                      <a:pt x="16956" y="17173"/>
                      <a:pt x="0" y="51086"/>
                      <a:pt x="4513" y="85725"/>
                    </a:cubicBezTo>
                    <a:cubicBezTo>
                      <a:pt x="39152" y="90238"/>
                      <a:pt x="73065" y="73281"/>
                      <a:pt x="90238" y="42862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9172575" y="3448050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14288"/>
                    </a:moveTo>
                    <a:cubicBezTo>
                      <a:pt x="0" y="22178"/>
                      <a:pt x="6397" y="28575"/>
                      <a:pt x="14288" y="28575"/>
                    </a:cubicBezTo>
                    <a:cubicBezTo>
                      <a:pt x="22178" y="28575"/>
                      <a:pt x="28575" y="22178"/>
                      <a:pt x="28575" y="14288"/>
                    </a:cubicBezTo>
                    <a:cubicBezTo>
                      <a:pt x="28575" y="6397"/>
                      <a:pt x="22178" y="0"/>
                      <a:pt x="14288" y="0"/>
                    </a:cubicBezTo>
                    <a:cubicBezTo>
                      <a:pt x="6397" y="0"/>
                      <a:pt x="0" y="6397"/>
                      <a:pt x="0" y="14288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7914412" y="4140200"/>
              <a:ext cx="245917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9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آموزش و بهینه‌سازی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00986" y="4775200"/>
              <a:ext cx="25473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تنظیم دقیق هایپرپارامترها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36427" y="5137150"/>
              <a:ext cx="28119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آزمایش بر روی کلاسترهای GPU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581151" y="5499100"/>
              <a:ext cx="2767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ارزیابی معیارهای دقت و اتلاف</a:t>
              </a:r>
            </a:p>
          </p:txBody>
        </p:sp>
      </p:grpSp>
      <p:grpSp>
        <p:nvGrpSpPr>
          <p:cNvPr id="71" name="step_3"/>
          <p:cNvGrpSpPr/>
          <p:nvPr/>
        </p:nvGrpSpPr>
        <p:grpSpPr>
          <a:xfrm>
            <a:off x="1143000" y="2209800"/>
            <a:ext cx="5080000" cy="6172200"/>
            <a:chOff x="1143000" y="2209800"/>
            <a:chExt cx="5080000" cy="6172200"/>
          </a:xfrm>
        </p:grpSpPr>
        <p:sp>
          <p:nvSpPr>
            <p:cNvPr id="58" name="Ellipse 58"/>
            <p:cNvSpPr/>
            <p:nvPr/>
          </p:nvSpPr>
          <p:spPr>
            <a:xfrm>
              <a:off x="3416300" y="2209800"/>
              <a:ext cx="533400" cy="533400"/>
            </a:xfrm>
            <a:prstGeom prst="ellipse">
              <a:avLst/>
            </a:prstGeom>
            <a:solidFill>
              <a:srgbClr val="1C2541"/>
            </a:solidFill>
            <a:ln w="28575">
              <a:solidFill>
                <a:srgbClr val="48CAE4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610480" y="2359025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143000" y="2857500"/>
              <a:ext cx="5080000" cy="5524500"/>
            </a:xfrm>
            <a:prstGeom prst="roundRect">
              <a:avLst>
                <a:gd name="adj" fmla="val 4500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3378200" y="3200400"/>
              <a:ext cx="609600" cy="609600"/>
            </a:xfrm>
            <a:prstGeom prst="roundRect">
              <a:avLst>
                <a:gd name="adj" fmla="val 28125"/>
              </a:avLst>
            </a:prstGeom>
            <a:solidFill>
              <a:srgbClr val="16294A"/>
            </a:solidFill>
            <a:ln w="14288">
              <a:solidFill>
                <a:srgbClr val="00B4D8"/>
              </a:solidFill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3554412" y="3376612"/>
              <a:ext cx="257175" cy="257175"/>
              <a:chOff x="3554412" y="3376612"/>
              <a:chExt cx="257175" cy="25717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554412" y="33766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3668712" y="349091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14288"/>
                    </a:moveTo>
                    <a:cubicBezTo>
                      <a:pt x="0" y="22178"/>
                      <a:pt x="6397" y="28575"/>
                      <a:pt x="14288" y="28575"/>
                    </a:cubicBezTo>
                    <a:cubicBezTo>
                      <a:pt x="22178" y="28575"/>
                      <a:pt x="28575" y="22178"/>
                      <a:pt x="28575" y="14288"/>
                    </a:cubicBezTo>
                    <a:cubicBezTo>
                      <a:pt x="28575" y="6397"/>
                      <a:pt x="22178" y="0"/>
                      <a:pt x="14288" y="0"/>
                    </a:cubicBezTo>
                    <a:cubicBezTo>
                      <a:pt x="6397" y="0"/>
                      <a:pt x="0" y="6397"/>
                      <a:pt x="0" y="14288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3703145" y="3448050"/>
                <a:ext cx="37005" cy="37005"/>
              </a:xfrm>
              <a:custGeom>
                <a:avLst/>
                <a:gdLst/>
                <a:ahLst/>
                <a:cxnLst/>
                <a:rect l="l" t="t" r="r" b="b"/>
                <a:pathLst>
                  <a:path w="37005" h="37005">
                    <a:moveTo>
                      <a:pt x="0" y="37005"/>
                    </a:moveTo>
                    <a:lnTo>
                      <a:pt x="37005" y="0"/>
                    </a:ln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3611562" y="3433762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0" y="71438"/>
                    </a:moveTo>
                    <a:cubicBezTo>
                      <a:pt x="0" y="31984"/>
                      <a:pt x="31984" y="0"/>
                      <a:pt x="71438" y="0"/>
                    </a:cubicBezTo>
                  </a:path>
                </a:pathLst>
              </a:custGeom>
              <a:noFill/>
              <a:ln w="28575" cap="rnd">
                <a:solidFill>
                  <a:srgbClr val="00B4D8"/>
                </a:solidFill>
                <a:round/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2336267" y="4140200"/>
              <a:ext cx="26934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9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پایش و پایش بلادرنگ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492914" y="477520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پایش مداوم شاخص‌های تاخیر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550262" y="51371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به‌روزرسانی خودکار مدل‌ها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387776" y="5499100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پاسخگویی با پایداری ۹۹.۹٪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3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decor_bg"/>
          <p:cNvGrpSpPr/>
          <p:nvPr/>
        </p:nvGrpSpPr>
        <p:grpSpPr>
          <a:xfrm>
            <a:off x="542925" y="733425"/>
            <a:ext cx="19840575" cy="11839575"/>
            <a:chOff x="542925" y="733425"/>
            <a:chExt cx="19840575" cy="11839575"/>
          </a:xfrm>
        </p:grpSpPr>
        <p:sp>
          <p:nvSpPr>
            <p:cNvPr id="2" name="Ellipse 2"/>
            <p:cNvSpPr/>
            <p:nvPr/>
          </p:nvSpPr>
          <p:spPr>
            <a:xfrm>
              <a:off x="542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715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2287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4573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685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42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7715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001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2287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4573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685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42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15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0001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287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4573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85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2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7715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001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287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73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685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4287500" y="6477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48CAE4">
                  <a:alpha val="9600"/>
                </a:srgbClr>
              </a:solidFill>
              <a:custDash>
                <a:ds d="533333" sp="400000"/>
              </a:custDash>
            </a:ln>
          </p:spPr>
        </p:sp>
      </p:grpSp>
      <p:grpSp>
        <p:nvGrpSpPr>
          <p:cNvPr id="30" name="header_group"/>
          <p:cNvGrpSpPr/>
          <p:nvPr/>
        </p:nvGrpSpPr>
        <p:grpSpPr>
          <a:xfrm>
            <a:off x="9086667" y="869950"/>
            <a:ext cx="8076621" cy="1008888"/>
            <a:chOff x="9086667" y="869950"/>
            <a:chExt cx="8076621" cy="1008888"/>
          </a:xfrm>
        </p:grpSpPr>
        <p:sp>
          <p:nvSpPr>
            <p:cNvPr id="28" name="TextBox 28"/>
            <p:cNvSpPr txBox="1"/>
            <p:nvPr/>
          </p:nvSpPr>
          <p:spPr>
            <a:xfrm>
              <a:off x="14730879" y="869950"/>
              <a:ext cx="24217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تاثیر و بازدهی عملیاتی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6667" y="1174750"/>
              <a:ext cx="80766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جهش شاخص‌های کلیدی پس از استقرار</a:t>
              </a:r>
            </a:p>
          </p:txBody>
        </p:sp>
      </p:grpSp>
      <p:grpSp>
        <p:nvGrpSpPr>
          <p:cNvPr id="33" name="kpi_image"/>
          <p:cNvGrpSpPr/>
          <p:nvPr/>
        </p:nvGrpSpPr>
        <p:grpSpPr>
          <a:xfrm>
            <a:off x="1143000" y="2286000"/>
            <a:ext cx="6477000" cy="6572250"/>
            <a:chOff x="1143000" y="2286000"/>
            <a:chExt cx="6477000" cy="6572250"/>
          </a:xfrm>
        </p:grpSpPr>
        <p:sp>
          <p:nvSpPr>
            <p:cNvPr id="31" name="Rectangle 31"/>
            <p:cNvSpPr/>
            <p:nvPr/>
          </p:nvSpPr>
          <p:spPr>
            <a:xfrm>
              <a:off x="1143000" y="2286000"/>
              <a:ext cx="6477000" cy="6572250"/>
            </a:xfrm>
            <a:prstGeom prst="roundRect">
              <a:avLst>
                <a:gd name="adj" fmla="val 4118"/>
              </a:avLst>
            </a:prstGeom>
            <a:solidFill>
              <a:srgbClr val="1C2541"/>
            </a:solidFill>
            <a:ln w="19050">
              <a:solidFill>
                <a:srgbClr val="48CAE4"/>
              </a:solidFill>
            </a:ln>
          </p:spPr>
        </p:sp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rcRect l="17164" t="0" r="17164" b="0"/>
            <a:stretch>
              <a:fillRect/>
            </a:stretch>
          </p:blipFill>
          <p:spPr>
            <a:xfrm>
              <a:off x="1238250" y="2381250"/>
              <a:ext cx="6286500" cy="6381750"/>
            </a:xfrm>
            <a:prstGeom prst="rect">
              <a:avLst/>
            </a:prstGeom>
          </p:spPr>
        </p:pic>
      </p:grpSp>
      <p:grpSp>
        <p:nvGrpSpPr>
          <p:cNvPr id="40" name="kpi_1"/>
          <p:cNvGrpSpPr/>
          <p:nvPr/>
        </p:nvGrpSpPr>
        <p:grpSpPr>
          <a:xfrm>
            <a:off x="8001000" y="2286000"/>
            <a:ext cx="9144000" cy="3143250"/>
            <a:chOff x="8001000" y="2286000"/>
            <a:chExt cx="9144000" cy="3143250"/>
          </a:xfrm>
        </p:grpSpPr>
        <p:sp>
          <p:nvSpPr>
            <p:cNvPr id="34" name="Rectangle 34"/>
            <p:cNvSpPr/>
            <p:nvPr/>
          </p:nvSpPr>
          <p:spPr>
            <a:xfrm>
              <a:off x="8001000" y="2286000"/>
              <a:ext cx="9144000" cy="3143250"/>
            </a:xfrm>
            <a:prstGeom prst="roundRect">
              <a:avLst>
                <a:gd name="adj" fmla="val 7273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5157033" y="2463800"/>
              <a:ext cx="1530767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48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</a:rPr>
                <a:t>+۸۵٪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477250" y="2619375"/>
              <a:ext cx="1524000" cy="361950"/>
            </a:xfrm>
            <a:prstGeom prst="roundRect">
              <a:avLst>
                <a:gd name="adj" fmla="val 50000"/>
              </a:avLst>
            </a:prstGeom>
            <a:solidFill>
              <a:srgbClr val="16294A"/>
            </a:solidFill>
            <a:ln w="14288">
              <a:solidFill>
                <a:srgbClr val="F59E0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69164" y="2705100"/>
              <a:ext cx="1140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F59E0B"/>
                  </a:solidFill>
                  <a:latin typeface="Yekan Bakh"/>
                  <a:ea typeface="Yekan Bakh"/>
                  <a:cs typeface="Yekan Bakh"/>
                  <a:rtl val="1"/>
                </a:rPr>
                <a:t>↑ رشد بهره‌وری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848135" y="3308350"/>
              <a:ext cx="2829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8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افزایش سرعت تصمیم‌گیری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381986" y="3692525"/>
              <a:ext cx="429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35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کاهش چشمگیر زمان تحلیل داده‌های بالینی و مهندسی</a:t>
              </a:r>
            </a:p>
          </p:txBody>
        </p:sp>
      </p:grpSp>
      <p:grpSp>
        <p:nvGrpSpPr>
          <p:cNvPr id="47" name="kpi_2"/>
          <p:cNvGrpSpPr/>
          <p:nvPr/>
        </p:nvGrpSpPr>
        <p:grpSpPr>
          <a:xfrm>
            <a:off x="8001000" y="5715000"/>
            <a:ext cx="9144000" cy="3143250"/>
            <a:chOff x="8001000" y="5715000"/>
            <a:chExt cx="9144000" cy="3143250"/>
          </a:xfrm>
        </p:grpSpPr>
        <p:sp>
          <p:nvSpPr>
            <p:cNvPr id="41" name="Rectangle 41"/>
            <p:cNvSpPr/>
            <p:nvPr/>
          </p:nvSpPr>
          <p:spPr>
            <a:xfrm>
              <a:off x="8001000" y="5715000"/>
              <a:ext cx="9144000" cy="3143250"/>
            </a:xfrm>
            <a:prstGeom prst="roundRect">
              <a:avLst>
                <a:gd name="adj" fmla="val 7273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5157033" y="5892800"/>
              <a:ext cx="1530767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fa" sz="48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</a:rPr>
                <a:t>۴.۲x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477250" y="6048375"/>
              <a:ext cx="1524000" cy="361950"/>
            </a:xfrm>
            <a:prstGeom prst="roundRect">
              <a:avLst>
                <a:gd name="adj" fmla="val 50000"/>
              </a:avLst>
            </a:prstGeom>
            <a:solidFill>
              <a:srgbClr val="16294A"/>
            </a:solidFill>
            <a:ln w="14288">
              <a:solidFill>
                <a:srgbClr val="F59E0B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516264" y="6134100"/>
              <a:ext cx="14459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F59E0B"/>
                  </a:solidFill>
                  <a:latin typeface="Yekan Bakh"/>
                  <a:ea typeface="Yekan Bakh"/>
                  <a:cs typeface="Yekan Bakh"/>
                  <a:rtl val="1"/>
                </a:rPr>
                <a:t>↑ نرخ بازگشت ROI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3568260" y="6737350"/>
              <a:ext cx="3109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8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ارزش‌آفرینی تجاری مستقیم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2381986" y="7121525"/>
              <a:ext cx="429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35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کاهش ۶۰ درصدی هزینه‌های عملیاتی و خطاهای داده‌ای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4" presetID="9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decor_bg"/>
          <p:cNvGrpSpPr/>
          <p:nvPr/>
        </p:nvGrpSpPr>
        <p:grpSpPr>
          <a:xfrm>
            <a:off x="542925" y="733425"/>
            <a:ext cx="19840575" cy="11839575"/>
            <a:chOff x="542925" y="733425"/>
            <a:chExt cx="19840575" cy="11839575"/>
          </a:xfrm>
        </p:grpSpPr>
        <p:sp>
          <p:nvSpPr>
            <p:cNvPr id="2" name="Ellipse 2"/>
            <p:cNvSpPr/>
            <p:nvPr/>
          </p:nvSpPr>
          <p:spPr>
            <a:xfrm>
              <a:off x="542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3" name="Ellipse 3"/>
            <p:cNvSpPr/>
            <p:nvPr/>
          </p:nvSpPr>
          <p:spPr>
            <a:xfrm>
              <a:off x="7715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10001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12287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14573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1685925" y="7334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42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7715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0001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2287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4573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685925" y="9620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42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15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0001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287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4573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85925" y="11906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2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7715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0001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287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73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685925" y="1419225"/>
              <a:ext cx="57150" cy="57150"/>
            </a:xfrm>
            <a:prstGeom prst="ellipse">
              <a:avLst/>
            </a:prstGeom>
            <a:solidFill>
              <a:srgbClr val="48CAE4">
                <a:alpha val="144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4287500" y="6477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48CAE4">
                  <a:alpha val="9600"/>
                </a:srgbClr>
              </a:solidFill>
              <a:custDash>
                <a:ds d="533333" sp="400000"/>
              </a:custDash>
            </a:ln>
          </p:spPr>
        </p:sp>
      </p:grpSp>
      <p:grpSp>
        <p:nvGrpSpPr>
          <p:cNvPr id="30" name="header_group"/>
          <p:cNvGrpSpPr/>
          <p:nvPr/>
        </p:nvGrpSpPr>
        <p:grpSpPr>
          <a:xfrm>
            <a:off x="7967167" y="869950"/>
            <a:ext cx="9196121" cy="1008888"/>
            <a:chOff x="7967167" y="869950"/>
            <a:chExt cx="9196121" cy="1008888"/>
          </a:xfrm>
        </p:grpSpPr>
        <p:sp>
          <p:nvSpPr>
            <p:cNvPr id="28" name="TextBox 28"/>
            <p:cNvSpPr txBox="1"/>
            <p:nvPr/>
          </p:nvSpPr>
          <p:spPr>
            <a:xfrm>
              <a:off x="14794487" y="869950"/>
              <a:ext cx="23581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تحلیل تطبیقی رویکردها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67167" y="1174750"/>
              <a:ext cx="91961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مقایسه روش‌های سنتی با سامانه هوشمند</a:t>
              </a:r>
            </a:p>
          </p:txBody>
        </p:sp>
      </p:grpSp>
      <p:grpSp>
        <p:nvGrpSpPr>
          <p:cNvPr id="46" name="compare_col_a"/>
          <p:cNvGrpSpPr/>
          <p:nvPr/>
        </p:nvGrpSpPr>
        <p:grpSpPr>
          <a:xfrm>
            <a:off x="9334500" y="2381250"/>
            <a:ext cx="7620000" cy="6477000"/>
            <a:chOff x="9334500" y="2381250"/>
            <a:chExt cx="7620000" cy="6477000"/>
          </a:xfrm>
        </p:grpSpPr>
        <p:sp>
          <p:nvSpPr>
            <p:cNvPr id="31" name="Rectangle 31"/>
            <p:cNvSpPr/>
            <p:nvPr/>
          </p:nvSpPr>
          <p:spPr>
            <a:xfrm>
              <a:off x="9334500" y="2381250"/>
              <a:ext cx="7620000" cy="6477000"/>
            </a:xfrm>
            <a:prstGeom prst="roundRect">
              <a:avLst>
                <a:gd name="adj" fmla="val 4118"/>
              </a:avLst>
            </a:prstGeom>
            <a:solidFill>
              <a:srgbClr val="1C2541"/>
            </a:solidFill>
            <a:ln w="19050">
              <a:solidFill>
                <a:srgbClr val="3A506B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9715500" y="2762250"/>
              <a:ext cx="2286000" cy="495300"/>
            </a:xfrm>
            <a:prstGeom prst="roundRect">
              <a:avLst>
                <a:gd name="adj" fmla="val 50000"/>
              </a:avLst>
            </a:prstGeom>
            <a:solidFill>
              <a:srgbClr val="0B132B"/>
            </a:solidFill>
            <a:ln w="14288">
              <a:solidFill>
                <a:srgbClr val="94A3B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753941" y="2882900"/>
              <a:ext cx="22091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روش‌های سنتی پردازش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16068675" y="3743325"/>
              <a:ext cx="171450" cy="171450"/>
              <a:chOff x="16068675" y="3743325"/>
              <a:chExt cx="171450" cy="17145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16068675" y="374332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6135350" y="38100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  <a:moveTo>
                      <a:pt x="3810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1522545" y="3702050"/>
              <a:ext cx="43925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سرعت کند و وابستگی مفرط به نیروی انسانی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16068675" y="4362450"/>
              <a:ext cx="171450" cy="171450"/>
              <a:chOff x="16068675" y="4362450"/>
              <a:chExt cx="171450" cy="17145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16068675" y="4362450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6135350" y="4429125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  <a:moveTo>
                      <a:pt x="3810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2077852" y="4321175"/>
              <a:ext cx="383728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خطای آماری بالا در حجم کلان داده‌ها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16068675" y="4981575"/>
              <a:ext cx="171450" cy="171450"/>
              <a:chOff x="16068675" y="4981575"/>
              <a:chExt cx="171450" cy="17145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6068675" y="49815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6135350" y="5048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  <a:moveTo>
                      <a:pt x="3810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1411483" y="4940300"/>
              <a:ext cx="45036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94A3B8"/>
                  </a:solidFill>
                  <a:latin typeface="Yekan Bakh"/>
                  <a:ea typeface="Yekan Bakh"/>
                  <a:cs typeface="Yekan Bakh"/>
                  <a:rtl val="1"/>
                </a:rPr>
                <a:t>هزینه‌های هنگفت نگهداری و مقیاس‌پذیری سخت</a:t>
              </a:r>
            </a:p>
          </p:txBody>
        </p:sp>
      </p:grpSp>
      <p:grpSp>
        <p:nvGrpSpPr>
          <p:cNvPr id="62" name="compare_col_b"/>
          <p:cNvGrpSpPr/>
          <p:nvPr/>
        </p:nvGrpSpPr>
        <p:grpSpPr>
          <a:xfrm>
            <a:off x="1333500" y="2381250"/>
            <a:ext cx="7620000" cy="6477000"/>
            <a:chOff x="1333500" y="2381250"/>
            <a:chExt cx="7620000" cy="6477000"/>
          </a:xfrm>
        </p:grpSpPr>
        <p:sp>
          <p:nvSpPr>
            <p:cNvPr id="47" name="Rectangle 47"/>
            <p:cNvSpPr/>
            <p:nvPr/>
          </p:nvSpPr>
          <p:spPr>
            <a:xfrm>
              <a:off x="1333500" y="2381250"/>
              <a:ext cx="7620000" cy="6477000"/>
            </a:xfrm>
            <a:prstGeom prst="roundRect">
              <a:avLst>
                <a:gd name="adj" fmla="val 4118"/>
              </a:avLst>
            </a:prstGeom>
            <a:solidFill>
              <a:srgbClr val="1C2541"/>
            </a:solidFill>
            <a:ln w="23812">
              <a:solidFill>
                <a:srgbClr val="48CAE4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714500" y="2762250"/>
              <a:ext cx="2667000" cy="495300"/>
            </a:xfrm>
            <a:prstGeom prst="roundRect">
              <a:avLst>
                <a:gd name="adj" fmla="val 50000"/>
              </a:avLst>
            </a:prstGeom>
            <a:solidFill>
              <a:srgbClr val="16294A"/>
            </a:solidFill>
            <a:ln w="19050">
              <a:solidFill>
                <a:srgbClr val="48CAE4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564444" y="2882900"/>
              <a:ext cx="29671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48CAE4"/>
                  </a:solidFill>
                  <a:latin typeface="Yekan Bakh"/>
                  <a:ea typeface="Yekan Bakh"/>
                  <a:cs typeface="Yekan Bakh"/>
                  <a:rtl val="1"/>
                </a:rPr>
                <a:t>✦ سامانه هوش مصنوعی نوین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8067675" y="3743325"/>
              <a:ext cx="171450" cy="171450"/>
              <a:chOff x="8067675" y="3743325"/>
              <a:chExt cx="171450" cy="17145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067675" y="374332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4825" y="3810000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2917926" y="3702050"/>
              <a:ext cx="49962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پردازش آنی میلیون‌ها رکورد در کسری از ثانیه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067675" y="4362450"/>
              <a:ext cx="171450" cy="171450"/>
              <a:chOff x="8067675" y="4362450"/>
              <a:chExt cx="171450" cy="17145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8067675" y="4362450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124825" y="442912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2789650" y="4321175"/>
              <a:ext cx="5124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دقت تحلیلی بالای ۹۹.۲ درصد با بازخورد مداوم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8067675" y="4981575"/>
              <a:ext cx="171450" cy="171450"/>
              <a:chOff x="8067675" y="4981575"/>
              <a:chExt cx="171450" cy="17145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067675" y="49815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124825" y="5048250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 cap="rnd">
                <a:solidFill>
                  <a:srgbClr val="48CAE4"/>
                </a:solidFill>
                <a:round/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2987894" y="4940300"/>
              <a:ext cx="49262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8FAFC"/>
                  </a:solidFill>
                  <a:latin typeface="Yekan Bakh"/>
                  <a:ea typeface="Yekan Bakh"/>
                  <a:cs typeface="Yekan Bakh"/>
                  <a:rtl val="1"/>
                </a:rPr>
                <a:t>خودکارسازی فراگیر و کاهش ۶۰ درصدی هزینه‌ها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ject_v2">
  <a:themeElements>
    <a:clrScheme name="project_v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v2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ject_v2">
  <a:themeElements>
    <a:clrScheme name="project_v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v2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fa</dc:language>
  <cp:lastModifiedBy/>
  <cp:revision>1</cp:revision>
  <dcterms:created xsi:type="dcterms:W3CDTF">2026-10-10T17:46:55Z</dcterms:created>
  <dcterms:modified xsi:type="dcterms:W3CDTF">2026-10-10T17:46:55Z</dcterms:modified>
  <cp:category/>
  <cp:contentStatus/>
</cp:coreProperties>
</file>