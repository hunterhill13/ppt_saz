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2"/>
  </p:notesMasterIdLst>
  <p:sldIdLst>
    <p:sldId id="256" r:id="rId7"/>
    <p:sldId id="257" r:id="rId8"/>
    <p:sldId id="258" r:id="rId9"/>
    <p:sldId id="259" r:id="rId10"/>
    <p:sldId id="260" r:id="rId11"/>
  </p:sldIdLst>
  <p:sldSz cx="18288000" cy="10287000" type="screen16x9"/>
  <p:notesSz cx="6858000" cy="9144000"/>
  <p:defaultTextStyle>
    <a:defPPr>
      <a:defRPr lang="fa"/>
    </a:defPPr>
    <a:lvl1pPr marL="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1pPr>
    <a:lvl2pPr marL="4572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2pPr>
    <a:lvl3pPr marL="9144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3pPr>
    <a:lvl4pPr marL="13716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4pPr>
    <a:lvl5pPr marL="18288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5pPr>
    <a:lvl6pPr marL="22860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6pPr>
    <a:lvl7pPr marL="27432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7pPr>
    <a:lvl8pPr marL="32004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8pPr>
    <a:lvl9pPr marL="3657600" algn="r" defTabSz="457200" rtl="1" eaLnBrk="1" latinLnBrk="0" hangingPunct="1">
      <a:defRPr sz="1800" kern="1200" lang="fa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  <Relationship Id="rId12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 rtl="1"/>
            <a:endParaRPr lang="f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 rtl="1">
      <a:defRPr sz="1200" lang="fa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1: هوش مصنوعی و آینده یادگیری ماشین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در این اسلاید آغازین، کلیات و اهمیت موج جدید مدل‌های هوش مصنوعی را مرور می‌کنیم.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2: سه ستون محوری معماری هوشمند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ستون‌های سه‌گانه نشان‌دهنده معماری یکپارچه برای استقرار سیستم‌های هوش مصنوعی است.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3: مراحل گام‌به‌گام استقرار مدل در سازمان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این فرآیند سه‌مرحله‌ای تضمین‌کننده پیاده‌سازی سریع و بدون ریسک است.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4: جهش شاخص‌های کلیدی پس از استقرار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شاخص‌های کلیدی آماری موید بهبود چشمگیر فرآیندها هستند.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fa" dirty="0">
                <a:rtl val="1"/>
              </a:rPr>
              <a:t>Notes for Slide 5: مقایسه روش‌های سنتی با سامانه هوشمند</a:t>
            </a:r>
          </a:p>
          <a:p>
            <a:pPr rtl="1"/>
            <a:endParaRPr lang="fa" dirty="0"/>
          </a:p>
          <a:p>
            <a:pPr rtl="1"/>
            <a:r>
              <a:rPr lang="fa" dirty="0">
                <a:rtl val="1"/>
              </a:rPr>
              <a:t>این اسلاید دلیل ضرورت مهاجرت به معماری‌های مدرن را تبیین می‌کند.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ject_ru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fa" smtClean="0"/>
              <a:t>1/27/13</a:t>
            </a:fld>
            <a:endParaRPr lang="f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a" smtClean="0"/>
              <a:t>‹#›</a:t>
            </a:fld>
            <a:endParaRPr lang="fa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ject_ru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fa" smtClean="0"/>
              <a:t>1/27/13</a:t>
            </a:fld>
            <a:endParaRPr lang="f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fa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fa" smtClean="0"/>
              <a:t>‹#›</a:t>
            </a:fld>
            <a:endParaRPr lang="f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1" eaLnBrk="1" latinLnBrk="0" hangingPunct="1">
        <a:spcBef>
          <a:spcPct val="0"/>
        </a:spcBef>
        <a:buNone/>
        <a:defRPr sz="4400" kern="1200" lang="fa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r" defTabSz="457200" rtl="1" eaLnBrk="1" latinLnBrk="0" hangingPunct="1">
        <a:spcBef>
          <a:spcPct val="20000"/>
        </a:spcBef>
        <a:buFont typeface="Arial"/>
        <a:buChar char="•"/>
        <a:defRPr sz="3200" kern="1200" lang="fa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r" defTabSz="457200" rtl="1" eaLnBrk="1" latinLnBrk="0" hangingPunct="1">
        <a:spcBef>
          <a:spcPct val="20000"/>
        </a:spcBef>
        <a:buFont typeface="Arial"/>
        <a:buChar char="–"/>
        <a:defRPr sz="2800" kern="1200" lang="fa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457200" rtl="1" eaLnBrk="1" latinLnBrk="0" hangingPunct="1">
        <a:spcBef>
          <a:spcPct val="20000"/>
        </a:spcBef>
        <a:buFont typeface="Arial"/>
        <a:buChar char="•"/>
        <a:defRPr sz="2400" kern="1200" lang="fa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457200" rtl="1" eaLnBrk="1" latinLnBrk="0" hangingPunct="1">
        <a:spcBef>
          <a:spcPct val="20000"/>
        </a:spcBef>
        <a:buFont typeface="Arial"/>
        <a:buChar char="–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457200" rtl="1" eaLnBrk="1" latinLnBrk="0" hangingPunct="1">
        <a:spcBef>
          <a:spcPct val="20000"/>
        </a:spcBef>
        <a:buFont typeface="Arial"/>
        <a:buChar char="»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457200" rtl="1" eaLnBrk="1" latinLnBrk="0" hangingPunct="1">
        <a:spcBef>
          <a:spcPct val="20000"/>
        </a:spcBef>
        <a:buFont typeface="Arial"/>
        <a:buChar char="•"/>
        <a:defRPr sz="2000" kern="1200" lang="fa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"/>
      </a:defPPr>
      <a:lvl1pPr marL="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 lang="fa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cb0319ec93a6074.jp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cb0319ec93a6074.jp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5969000"/>
            <a:ext cx="18288000" cy="4318000"/>
            <a:chOff x="0" y="5969000"/>
            <a:chExt cx="18288000" cy="4318000"/>
          </a:xfrm>
        </p:grpSpPr>
        <p:sp>
          <p:nvSpPr>
            <p:cNvPr id="2" name="Freeform 2"/>
            <p:cNvSpPr/>
            <p:nvPr/>
          </p:nvSpPr>
          <p:spPr>
            <a:xfrm>
              <a:off x="0" y="5969000"/>
              <a:ext cx="18288000" cy="4318000"/>
            </a:xfrm>
            <a:custGeom>
              <a:avLst/>
              <a:gdLst/>
              <a:ahLst/>
              <a:cxnLst/>
              <a:rect l="l" t="t" r="r" b="b"/>
              <a:pathLst>
                <a:path w="18288000" h="4318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  <a:lnTo>
                    <a:pt x="18288000" y="4318000"/>
                  </a:lnTo>
                  <a:lnTo>
                    <a:pt x="0" y="4318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7366000"/>
              <a:ext cx="18288000" cy="2921000"/>
            </a:xfrm>
            <a:custGeom>
              <a:avLst/>
              <a:gdLst/>
              <a:ahLst/>
              <a:cxnLst/>
              <a:rect l="l" t="t" r="r" b="b"/>
              <a:pathLst>
                <a:path w="18288000" h="2921000">
                  <a:moveTo>
                    <a:pt x="0" y="635000"/>
                  </a:moveTo>
                  <a:cubicBezTo>
                    <a:pt x="3302000" y="0"/>
                    <a:pt x="6731000" y="190500"/>
                    <a:pt x="10287000" y="1206500"/>
                  </a:cubicBezTo>
                  <a:cubicBezTo>
                    <a:pt x="13843000" y="2222500"/>
                    <a:pt x="16510000" y="1968500"/>
                    <a:pt x="18288000" y="444500"/>
                  </a:cubicBezTo>
                  <a:lnTo>
                    <a:pt x="182880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5969000"/>
              <a:ext cx="18288000" cy="2413000"/>
            </a:xfrm>
            <a:custGeom>
              <a:avLst/>
              <a:gdLst/>
              <a:ahLst/>
              <a:cxnLst/>
              <a:rect l="l" t="t" r="r" b="b"/>
              <a:pathLst>
                <a:path w="18288000" h="2413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</a:path>
              </a:pathLst>
            </a:custGeom>
            <a:noFill/>
            <a:ln w="28575">
              <a:solidFill>
                <a:srgbClr val="00F0FF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8" name="kicker_pill"/>
          <p:cNvGrpSpPr/>
          <p:nvPr/>
        </p:nvGrpSpPr>
        <p:grpSpPr>
          <a:xfrm>
            <a:off x="11239500" y="2000250"/>
            <a:ext cx="5143500" cy="457200"/>
            <a:chOff x="11239500" y="2000250"/>
            <a:chExt cx="5143500" cy="457200"/>
          </a:xfrm>
        </p:grpSpPr>
        <p:sp>
          <p:nvSpPr>
            <p:cNvPr id="35" name="Rectangle 35"/>
            <p:cNvSpPr/>
            <p:nvPr/>
          </p:nvSpPr>
          <p:spPr>
            <a:xfrm>
              <a:off x="11239500" y="2000250"/>
              <a:ext cx="5143500" cy="457200"/>
            </a:xfrm>
            <a:prstGeom prst="roundRect">
              <a:avLst>
                <a:gd name="adj" fmla="val 50000"/>
              </a:avLst>
            </a:prstGeom>
            <a:solidFill>
              <a:srgbClr val="132147"/>
            </a:solidFill>
            <a:ln w="19050">
              <a:solidFill>
                <a:srgbClr val="00F0FF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16097250" y="2171700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2240096" y="2127250"/>
              <a:ext cx="29518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ارائه تخصصی فناوری و نوآوری</a:t>
              </a:r>
            </a:p>
          </p:txBody>
        </p:sp>
      </p:grpSp>
      <p:grpSp>
        <p:nvGrpSpPr>
          <p:cNvPr id="41" name="title_group"/>
          <p:cNvGrpSpPr/>
          <p:nvPr/>
        </p:nvGrpSpPr>
        <p:grpSpPr>
          <a:xfrm>
            <a:off x="5270724" y="2749550"/>
            <a:ext cx="11131326" cy="1598168"/>
            <a:chOff x="5270724" y="2749550"/>
            <a:chExt cx="11131326" cy="1598168"/>
          </a:xfrm>
        </p:grpSpPr>
        <p:sp>
          <p:nvSpPr>
            <p:cNvPr id="39" name="TextBox 39"/>
            <p:cNvSpPr txBox="1"/>
            <p:nvPr/>
          </p:nvSpPr>
          <p:spPr>
            <a:xfrm>
              <a:off x="5270724" y="2749550"/>
              <a:ext cx="11131326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48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هوش مصنوعی و آینده یادگیری ماشین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496903" y="3937000"/>
              <a:ext cx="889676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تحول بنیادین در الگوهای پردازش کلان‌داده و تصمیم‌گیری هوشمند</a:t>
              </a:r>
            </a:p>
          </p:txBody>
        </p:sp>
      </p:grpSp>
      <p:grpSp>
        <p:nvGrpSpPr>
          <p:cNvPr id="44" name="accent_spine"/>
          <p:cNvGrpSpPr/>
          <p:nvPr/>
        </p:nvGrpSpPr>
        <p:grpSpPr>
          <a:xfrm>
            <a:off x="16592550" y="2762250"/>
            <a:ext cx="152400" cy="2190750"/>
            <a:chOff x="16592550" y="2762250"/>
            <a:chExt cx="152400" cy="2190750"/>
          </a:xfrm>
        </p:grpSpPr>
        <p:sp>
          <p:nvSpPr>
            <p:cNvPr id="42" name="Rectangle 42"/>
            <p:cNvSpPr/>
            <p:nvPr/>
          </p:nvSpPr>
          <p:spPr>
            <a:xfrm>
              <a:off x="16621125" y="2762250"/>
              <a:ext cx="95250" cy="2190750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6592550" y="2762250"/>
              <a:ext cx="152400" cy="571500"/>
            </a:xfrm>
            <a:prstGeom prst="roundRect">
              <a:avLst>
                <a:gd name="adj" fmla="val 25000"/>
              </a:avLst>
            </a:prstGeom>
            <a:solidFill>
              <a:srgbClr val="A855F7"/>
            </a:solidFill>
            <a:ln>
              <a:noFill/>
            </a:ln>
          </p:spPr>
        </p:sp>
      </p:grpSp>
      <p:grpSp>
        <p:nvGrpSpPr>
          <p:cNvPr id="50" name="author_chip"/>
          <p:cNvGrpSpPr/>
          <p:nvPr/>
        </p:nvGrpSpPr>
        <p:grpSpPr>
          <a:xfrm>
            <a:off x="11134725" y="5715000"/>
            <a:ext cx="5248275" cy="609600"/>
            <a:chOff x="11134725" y="5715000"/>
            <a:chExt cx="5248275" cy="609600"/>
          </a:xfrm>
        </p:grpSpPr>
        <p:sp>
          <p:nvSpPr>
            <p:cNvPr id="45" name="Rectangle 45"/>
            <p:cNvSpPr/>
            <p:nvPr/>
          </p:nvSpPr>
          <p:spPr>
            <a:xfrm>
              <a:off x="11134725" y="5715000"/>
              <a:ext cx="5248275" cy="609600"/>
            </a:xfrm>
            <a:prstGeom prst="roundRect">
              <a:avLst>
                <a:gd name="adj" fmla="val 37500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5997238" y="5903119"/>
              <a:ext cx="142875" cy="214313"/>
              <a:chOff x="15997238" y="5903119"/>
              <a:chExt cx="142875" cy="21431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6021050" y="5903119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47625"/>
                    </a:move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  <a:cubicBezTo>
                      <a:pt x="95250" y="21322"/>
                      <a:pt x="73928" y="0"/>
                      <a:pt x="47625" y="0"/>
                    </a:cubicBezTo>
                    <a:cubicBezTo>
                      <a:pt x="21322" y="0"/>
                      <a:pt x="0" y="21322"/>
                      <a:pt x="0" y="47625"/>
                    </a:cubicBezTo>
                  </a:path>
                </a:pathLst>
              </a:custGeom>
              <a:noFill/>
              <a:ln w="23812" cap="rnd">
                <a:solidFill>
                  <a:srgbClr val="00F0FF"/>
                </a:solidFill>
                <a:round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5997238" y="6045994"/>
                <a:ext cx="14287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71438">
                    <a:moveTo>
                      <a:pt x="0" y="71438"/>
                    </a:move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lnTo>
                      <a:pt x="95250" y="0"/>
                    </a:lnTo>
                    <a:cubicBezTo>
                      <a:pt x="121553" y="0"/>
                      <a:pt x="142875" y="21322"/>
                      <a:pt x="142875" y="47625"/>
                    </a:cubicBezTo>
                    <a:lnTo>
                      <a:pt x="142875" y="71438"/>
                    </a:lnTo>
                  </a:path>
                </a:pathLst>
              </a:custGeom>
              <a:noFill/>
              <a:ln w="23812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2385332" y="5892800"/>
              <a:ext cx="33869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دکتر احسان حسینی | پاییز ۱۴۰۵</a:t>
              </a:r>
            </a:p>
          </p:txBody>
        </p:sp>
      </p:grpSp>
      <p:grpSp>
        <p:nvGrpSpPr>
          <p:cNvPr id="55" name="spin_hero_orbit"/>
          <p:cNvGrpSpPr/>
          <p:nvPr/>
        </p:nvGrpSpPr>
        <p:grpSpPr>
          <a:xfrm>
            <a:off x="428625" y="952500"/>
            <a:ext cx="8191500" cy="8191500"/>
            <a:chOff x="428625" y="952500"/>
            <a:chExt cx="8191500" cy="8191500"/>
          </a:xfrm>
        </p:grpSpPr>
        <p:sp>
          <p:nvSpPr>
            <p:cNvPr id="51" name="Ellipse 51"/>
            <p:cNvSpPr/>
            <p:nvPr/>
          </p:nvSpPr>
          <p:spPr>
            <a:xfrm>
              <a:off x="809625" y="1333500"/>
              <a:ext cx="7429500" cy="7429500"/>
            </a:xfrm>
            <a:prstGeom prst="ellipse">
              <a:avLst/>
            </a:prstGeom>
            <a:noFill/>
            <a:ln w="19050">
              <a:solidFill>
                <a:srgbClr val="00F0FF">
                  <a:alpha val="35000"/>
                </a:srgbClr>
              </a:solidFill>
              <a:custDash>
                <a:ds d="600000" sp="400000"/>
              </a:custDash>
            </a:ln>
          </p:spPr>
        </p:sp>
        <p:sp>
          <p:nvSpPr>
            <p:cNvPr id="52" name="Ellipse 52"/>
            <p:cNvSpPr/>
            <p:nvPr/>
          </p:nvSpPr>
          <p:spPr>
            <a:xfrm>
              <a:off x="428625" y="952500"/>
              <a:ext cx="8191500" cy="8191500"/>
            </a:xfrm>
            <a:prstGeom prst="ellipse">
              <a:avLst/>
            </a:prstGeom>
            <a:noFill/>
            <a:ln w="11430">
              <a:solidFill>
                <a:srgbClr val="A855F7">
                  <a:alpha val="25000"/>
                </a:srgbClr>
              </a:solidFill>
              <a:custDash>
                <a:ds d="500000" sp="1000000"/>
              </a:custDash>
            </a:ln>
          </p:spPr>
        </p:sp>
        <p:sp>
          <p:nvSpPr>
            <p:cNvPr id="53" name="Ellipse 53"/>
            <p:cNvSpPr/>
            <p:nvPr/>
          </p:nvSpPr>
          <p:spPr>
            <a:xfrm>
              <a:off x="8162925" y="4972050"/>
              <a:ext cx="152400" cy="152400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54" name="Ellipse 54"/>
            <p:cNvSpPr/>
            <p:nvPr/>
          </p:nvSpPr>
          <p:spPr>
            <a:xfrm>
              <a:off x="752475" y="4991100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</p:grpSp>
      <p:grpSp>
        <p:nvGrpSpPr>
          <p:cNvPr id="67" name="hero_image"/>
          <p:cNvGrpSpPr/>
          <p:nvPr/>
        </p:nvGrpSpPr>
        <p:grpSpPr>
          <a:xfrm>
            <a:off x="876300" y="1828800"/>
            <a:ext cx="7296150" cy="6438900"/>
            <a:chOff x="876300" y="1828800"/>
            <a:chExt cx="7296150" cy="6438900"/>
          </a:xfrm>
        </p:grpSpPr>
        <p:sp>
          <p:nvSpPr>
            <p:cNvPr id="56" name="Rectangle 56"/>
            <p:cNvSpPr/>
            <p:nvPr/>
          </p:nvSpPr>
          <p:spPr>
            <a:xfrm>
              <a:off x="876300" y="1828800"/>
              <a:ext cx="7296150" cy="6438900"/>
            </a:xfrm>
            <a:prstGeom prst="roundRect">
              <a:avLst>
                <a:gd name="adj" fmla="val 6213"/>
              </a:avLst>
            </a:prstGeom>
            <a:noFill/>
            <a:ln w="19050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952500" y="1905000"/>
              <a:ext cx="7143750" cy="6286500"/>
            </a:xfrm>
            <a:prstGeom prst="roundRect">
              <a:avLst>
                <a:gd name="adj" fmla="val 5758"/>
              </a:avLst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pic>
          <p:nvPicPr>
            <p:cNvPr id="58" name="Image 58"/>
            <p:cNvPicPr>
              <a:picLocks noChangeAspect="1"/>
            </p:cNvPicPr>
            <p:nvPr/>
          </p:nvPicPr>
          <p:blipFill>
            <a:blip r:embed="rId2"/>
            <a:srcRect l="6614" t="0" r="6613" b="0"/>
            <a:stretch>
              <a:fillRect/>
            </a:stretch>
          </p:blipFill>
          <p:spPr>
            <a:xfrm>
              <a:off x="1066800" y="2019300"/>
              <a:ext cx="6915150" cy="6057900"/>
            </a:xfrm>
            <a:prstGeom prst="rect">
              <a:avLst/>
            </a:prstGeom>
          </p:spPr>
        </p:pic>
        <p:sp>
          <p:nvSpPr>
            <p:cNvPr id="59" name="Ellipse 59"/>
            <p:cNvSpPr/>
            <p:nvPr/>
          </p:nvSpPr>
          <p:spPr>
            <a:xfrm>
              <a:off x="1447800" y="2209800"/>
              <a:ext cx="723900" cy="723900"/>
            </a:xfrm>
            <a:prstGeom prst="ellipse">
              <a:avLst/>
            </a:prstGeom>
            <a:solidFill>
              <a:srgbClr val="132147"/>
            </a:solidFill>
            <a:ln w="28575">
              <a:solidFill>
                <a:srgbClr val="00F0FF"/>
              </a:solidFill>
            </a:ln>
          </p:spPr>
        </p:sp>
        <p:sp>
          <p:nvSpPr>
            <p:cNvPr id="60" name="Ellipse 60"/>
            <p:cNvSpPr/>
            <p:nvPr/>
          </p:nvSpPr>
          <p:spPr>
            <a:xfrm>
              <a:off x="1371600" y="2133600"/>
              <a:ext cx="876300" cy="876300"/>
            </a:xfrm>
            <a:prstGeom prst="ellipse">
              <a:avLst/>
            </a:prstGeom>
            <a:noFill/>
            <a:ln w="14288">
              <a:solidFill>
                <a:srgbClr val="A855F7"/>
              </a:solidFill>
              <a:prstDash val="dash"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1673257" y="2428875"/>
              <a:ext cx="272954" cy="284004"/>
              <a:chOff x="1673257" y="2428875"/>
              <a:chExt cx="272954" cy="28400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1714500" y="24288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 cap="rnd">
                <a:solidFill>
                  <a:srgbClr val="00F0FF"/>
                </a:solidFill>
                <a:round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1809750" y="2571750"/>
                <a:ext cx="136461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1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1" y="93488"/>
                    </a:lnTo>
                    <a:lnTo>
                      <a:pt x="82486" y="0"/>
                    </a:lnTo>
                  </a:path>
                </a:pathLst>
              </a:custGeom>
              <a:noFill/>
              <a:ln w="31750" cap="rnd">
                <a:solidFill>
                  <a:srgbClr val="00F0FF"/>
                </a:solidFill>
                <a:round/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1673257" y="25717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65" name="Rectangle 65"/>
            <p:cNvSpPr/>
            <p:nvPr/>
          </p:nvSpPr>
          <p:spPr>
            <a:xfrm>
              <a:off x="1333500" y="7429500"/>
              <a:ext cx="2476500" cy="495300"/>
            </a:xfrm>
            <a:prstGeom prst="roundRect">
              <a:avLst>
                <a:gd name="adj" fmla="val 50000"/>
              </a:avLst>
            </a:prstGeom>
            <a:solidFill>
              <a:srgbClr val="070B19">
                <a:alpha val="94000"/>
              </a:srgbClr>
            </a:solidFill>
            <a:ln w="19050">
              <a:solidFill>
                <a:srgbClr val="00F0FF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1435470" y="7566025"/>
              <a:ext cx="22725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42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✦ ارائه تاییدشده رسمی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6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23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650"/>
                            </p:stCondLst>
                            <p:childTnLst>
                              <p:par>
                                <p:cTn xmlns:p="http://schemas.openxmlformats.org/presentationml/2006/main" id="28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400"/>
                            </p:stCondLst>
                            <p:childTnLst>
                              <p:par>
                                <p:cTn xmlns:p="http://schemas.openxmlformats.org/presentationml/2006/main" id="32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150"/>
                            </p:stCondLst>
                            <p:childTnLst>
                              <p:par>
                                <p:cTn xmlns:p="http://schemas.openxmlformats.org/presentationml/2006/main" id="39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900"/>
                            </p:stCondLst>
                            <p:childTnLst>
                              <p:par>
                                <p:cTn xmlns:p="http://schemas.openxmlformats.org/presentationml/2006/main" id="44" presetID="9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650"/>
                            </p:stCondLst>
                            <p:childTnLst>
                              <p:par>
                                <p:cTn xmlns:p="http://schemas.openxmlformats.org/presentationml/2006/main" id="48" presetID="6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50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4953000"/>
            <a:ext cx="18288000" cy="5334000"/>
            <a:chOff x="0" y="4953000"/>
            <a:chExt cx="18288000" cy="5334000"/>
          </a:xfrm>
        </p:grpSpPr>
        <p:sp>
          <p:nvSpPr>
            <p:cNvPr id="2" name="Freeform 2"/>
            <p:cNvSpPr/>
            <p:nvPr/>
          </p:nvSpPr>
          <p:spPr>
            <a:xfrm>
              <a:off x="0" y="4953000"/>
              <a:ext cx="18288000" cy="5334000"/>
            </a:xfrm>
            <a:custGeom>
              <a:avLst/>
              <a:gdLst/>
              <a:ahLst/>
              <a:cxnLst/>
              <a:rect l="l" t="t" r="r" b="b"/>
              <a:pathLst>
                <a:path w="18288000" h="5334000">
                  <a:moveTo>
                    <a:pt x="0" y="1333500"/>
                  </a:moveTo>
                  <a:cubicBezTo>
                    <a:pt x="3556000" y="2349500"/>
                    <a:pt x="7048500" y="2286000"/>
                    <a:pt x="10477500" y="1143000"/>
                  </a:cubicBezTo>
                  <a:cubicBezTo>
                    <a:pt x="13906500" y="0"/>
                    <a:pt x="16510000" y="317500"/>
                    <a:pt x="18288000" y="2095500"/>
                  </a:cubicBezTo>
                  <a:lnTo>
                    <a:pt x="18288000" y="5334000"/>
                  </a:lnTo>
                  <a:lnTo>
                    <a:pt x="0" y="5334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6540500"/>
              <a:ext cx="18288000" cy="3746500"/>
            </a:xfrm>
            <a:custGeom>
              <a:avLst/>
              <a:gdLst/>
              <a:ahLst/>
              <a:cxnLst/>
              <a:rect l="l" t="t" r="r" b="b"/>
              <a:pathLst>
                <a:path w="18288000" h="3746500">
                  <a:moveTo>
                    <a:pt x="0" y="1079500"/>
                  </a:moveTo>
                  <a:cubicBezTo>
                    <a:pt x="2794000" y="1841500"/>
                    <a:pt x="6032500" y="1778000"/>
                    <a:pt x="9715500" y="889000"/>
                  </a:cubicBezTo>
                  <a:cubicBezTo>
                    <a:pt x="13398500" y="0"/>
                    <a:pt x="16256000" y="254000"/>
                    <a:pt x="18288000" y="1651000"/>
                  </a:cubicBezTo>
                  <a:lnTo>
                    <a:pt x="18288000" y="3746500"/>
                  </a:lnTo>
                  <a:lnTo>
                    <a:pt x="0" y="37465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4953000"/>
              <a:ext cx="18288000" cy="2349500"/>
            </a:xfrm>
            <a:custGeom>
              <a:avLst/>
              <a:gdLst/>
              <a:ahLst/>
              <a:cxnLst/>
              <a:rect l="l" t="t" r="r" b="b"/>
              <a:pathLst>
                <a:path w="18288000" h="2349500">
                  <a:moveTo>
                    <a:pt x="0" y="1333500"/>
                  </a:moveTo>
                  <a:cubicBezTo>
                    <a:pt x="3556000" y="2349500"/>
                    <a:pt x="7048500" y="2286000"/>
                    <a:pt x="10477500" y="1143000"/>
                  </a:cubicBezTo>
                  <a:cubicBezTo>
                    <a:pt x="13906500" y="0"/>
                    <a:pt x="16510000" y="317500"/>
                    <a:pt x="18288000" y="2095500"/>
                  </a:cubicBezTo>
                </a:path>
              </a:pathLst>
            </a:custGeom>
            <a:noFill/>
            <a:ln w="28575">
              <a:solidFill>
                <a:srgbClr val="A855F7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7" name="header_group"/>
          <p:cNvGrpSpPr/>
          <p:nvPr/>
        </p:nvGrpSpPr>
        <p:grpSpPr>
          <a:xfrm>
            <a:off x="10078951" y="822325"/>
            <a:ext cx="7084337" cy="1008888"/>
            <a:chOff x="10078951" y="822325"/>
            <a:chExt cx="7084337" cy="1008888"/>
          </a:xfrm>
        </p:grpSpPr>
        <p:sp>
          <p:nvSpPr>
            <p:cNvPr id="35" name="TextBox 35"/>
            <p:cNvSpPr txBox="1"/>
            <p:nvPr/>
          </p:nvSpPr>
          <p:spPr>
            <a:xfrm>
              <a:off x="15260945" y="822325"/>
              <a:ext cx="18916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ارکان کلیدی سیستم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078951" y="1127125"/>
              <a:ext cx="708433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سه ستون محوری معماری هوشمند</a:t>
              </a:r>
            </a:p>
          </p:txBody>
        </p:sp>
      </p:grpSp>
      <p:grpSp>
        <p:nvGrpSpPr>
          <p:cNvPr id="61" name="card_1"/>
          <p:cNvGrpSpPr/>
          <p:nvPr/>
        </p:nvGrpSpPr>
        <p:grpSpPr>
          <a:xfrm>
            <a:off x="12071350" y="2085975"/>
            <a:ext cx="5168900" cy="6867525"/>
            <a:chOff x="12071350" y="2085975"/>
            <a:chExt cx="5168900" cy="6867525"/>
          </a:xfrm>
        </p:grpSpPr>
        <p:sp>
          <p:nvSpPr>
            <p:cNvPr id="38" name="Rectangle 38"/>
            <p:cNvSpPr/>
            <p:nvPr/>
          </p:nvSpPr>
          <p:spPr>
            <a:xfrm>
              <a:off x="12071350" y="2381250"/>
              <a:ext cx="5168900" cy="6572250"/>
            </a:xfrm>
            <a:prstGeom prst="roundRect">
              <a:avLst>
                <a:gd name="adj" fmla="val 6265"/>
              </a:avLst>
            </a:prstGeom>
            <a:solidFill>
              <a:srgbClr val="10182F"/>
            </a:solidFill>
            <a:ln w="23812">
              <a:solidFill>
                <a:srgbClr val="2563EB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2452350" y="2381250"/>
              <a:ext cx="4406900" cy="47625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grpSp>
          <p:nvGrpSpPr>
            <p:cNvPr id="43" name="spin_card_halo_1"/>
            <p:cNvGrpSpPr/>
            <p:nvPr/>
          </p:nvGrpSpPr>
          <p:grpSpPr>
            <a:xfrm>
              <a:off x="13931900" y="2085975"/>
              <a:ext cx="1447800" cy="1447800"/>
              <a:chOff x="13931900" y="2085975"/>
              <a:chExt cx="1447800" cy="1447800"/>
            </a:xfrm>
          </p:grpSpPr>
          <p:sp>
            <p:nvSpPr>
              <p:cNvPr id="40" name="Ellipse 40"/>
              <p:cNvSpPr/>
              <p:nvPr/>
            </p:nvSpPr>
            <p:spPr>
              <a:xfrm>
                <a:off x="14027150" y="2181225"/>
                <a:ext cx="1257300" cy="1257300"/>
              </a:xfrm>
              <a:prstGeom prst="ellipse">
                <a:avLst/>
              </a:prstGeom>
              <a:noFill/>
              <a:ln w="19050">
                <a:solidFill>
                  <a:srgbClr val="00F0FF">
                    <a:alpha val="55000"/>
                  </a:srgbClr>
                </a:solidFill>
                <a:custDash>
                  <a:ds d="300000" sp="250000"/>
                </a:custDash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13931900" y="2085975"/>
                <a:ext cx="1447800" cy="1447800"/>
              </a:xfrm>
              <a:prstGeom prst="ellipse">
                <a:avLst/>
              </a:prstGeom>
              <a:noFill/>
              <a:ln w="9525">
                <a:solidFill>
                  <a:srgbClr val="A855F7">
                    <a:alpha val="30000"/>
                  </a:srgbClr>
                </a:solidFill>
                <a:custDash>
                  <a:ds d="300000" sp="600000"/>
                </a:custDash>
              </a:ln>
            </p:spPr>
          </p:sp>
          <p:sp>
            <p:nvSpPr>
              <p:cNvPr id="42" name="Ellipse 42"/>
              <p:cNvSpPr/>
              <p:nvPr/>
            </p:nvSpPr>
            <p:spPr>
              <a:xfrm>
                <a:off x="15246350" y="2771775"/>
                <a:ext cx="76200" cy="76200"/>
              </a:xfrm>
              <a:prstGeom prst="ellipse">
                <a:avLst/>
              </a:prstGeom>
              <a:solidFill>
                <a:srgbClr val="EC4899"/>
              </a:solidFill>
              <a:ln>
                <a:noFill/>
              </a:ln>
            </p:spPr>
          </p:sp>
        </p:grpSp>
        <p:sp>
          <p:nvSpPr>
            <p:cNvPr id="44" name="Ellipse 44"/>
            <p:cNvSpPr/>
            <p:nvPr/>
          </p:nvSpPr>
          <p:spPr>
            <a:xfrm>
              <a:off x="14160500" y="2314575"/>
              <a:ext cx="990600" cy="990600"/>
            </a:xfrm>
            <a:prstGeom prst="ellipse">
              <a:avLst/>
            </a:prstGeom>
            <a:solidFill>
              <a:srgbClr val="132147"/>
            </a:solidFill>
            <a:ln w="26670">
              <a:solidFill>
                <a:srgbClr val="00F0FF"/>
              </a:solidFill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14484350" y="2638425"/>
              <a:ext cx="342900" cy="342900"/>
              <a:chOff x="14484350" y="2638425"/>
              <a:chExt cx="342900" cy="3429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14655800" y="2828925"/>
                <a:ext cx="1333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52400">
                    <a:moveTo>
                      <a:pt x="66675" y="0"/>
                    </a:moveTo>
                    <a:cubicBezTo>
                      <a:pt x="29851" y="0"/>
                      <a:pt x="0" y="29851"/>
                      <a:pt x="0" y="66675"/>
                    </a:cubicBezTo>
                    <a:lnTo>
                      <a:pt x="0" y="85725"/>
                    </a:lnTo>
                    <a:cubicBezTo>
                      <a:pt x="0" y="122549"/>
                      <a:pt x="29851" y="152400"/>
                      <a:pt x="66675" y="152400"/>
                    </a:cubicBezTo>
                    <a:cubicBezTo>
                      <a:pt x="103499" y="152400"/>
                      <a:pt x="133350" y="122549"/>
                      <a:pt x="133350" y="85725"/>
                    </a:cubicBezTo>
                    <a:lnTo>
                      <a:pt x="133350" y="51435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4522450" y="2828925"/>
                <a:ext cx="1333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52400">
                    <a:moveTo>
                      <a:pt x="66675" y="0"/>
                    </a:moveTo>
                    <a:cubicBezTo>
                      <a:pt x="103499" y="0"/>
                      <a:pt x="133350" y="29851"/>
                      <a:pt x="133350" y="66675"/>
                    </a:cubicBezTo>
                    <a:lnTo>
                      <a:pt x="133350" y="85725"/>
                    </a:lnTo>
                    <a:cubicBezTo>
                      <a:pt x="133350" y="122549"/>
                      <a:pt x="103499" y="152400"/>
                      <a:pt x="66675" y="152400"/>
                    </a:cubicBezTo>
                    <a:cubicBezTo>
                      <a:pt x="29851" y="152400"/>
                      <a:pt x="0" y="122549"/>
                      <a:pt x="0" y="85725"/>
                    </a:cubicBezTo>
                    <a:lnTo>
                      <a:pt x="0" y="51435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4751050" y="2752725"/>
                <a:ext cx="762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33350">
                    <a:moveTo>
                      <a:pt x="9525" y="133350"/>
                    </a:moveTo>
                    <a:cubicBezTo>
                      <a:pt x="46349" y="133350"/>
                      <a:pt x="76200" y="103499"/>
                      <a:pt x="76200" y="66675"/>
                    </a:cubicBezTo>
                    <a:cubicBezTo>
                      <a:pt x="76200" y="29851"/>
                      <a:pt x="46349" y="0"/>
                      <a:pt x="952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14655800" y="2638425"/>
                <a:ext cx="133350" cy="12001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20015">
                    <a:moveTo>
                      <a:pt x="133350" y="120015"/>
                    </a:moveTo>
                    <a:lnTo>
                      <a:pt x="133350" y="66675"/>
                    </a:lnTo>
                    <a:cubicBezTo>
                      <a:pt x="133350" y="29851"/>
                      <a:pt x="103499" y="0"/>
                      <a:pt x="66675" y="0"/>
                    </a:cubicBezTo>
                    <a:cubicBezTo>
                      <a:pt x="29851" y="0"/>
                      <a:pt x="0" y="29851"/>
                      <a:pt x="0" y="66675"/>
                    </a:cubicBez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4484350" y="2752725"/>
                <a:ext cx="762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33350">
                    <a:moveTo>
                      <a:pt x="66675" y="133350"/>
                    </a:moveTo>
                    <a:cubicBezTo>
                      <a:pt x="29851" y="133350"/>
                      <a:pt x="0" y="103499"/>
                      <a:pt x="0" y="66675"/>
                    </a:cubicBezTo>
                    <a:cubicBezTo>
                      <a:pt x="0" y="29851"/>
                      <a:pt x="29851" y="0"/>
                      <a:pt x="66675" y="0"/>
                    </a:cubicBezTo>
                    <a:lnTo>
                      <a:pt x="7620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14522450" y="2638425"/>
                <a:ext cx="133350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257175">
                    <a:moveTo>
                      <a:pt x="0" y="120015"/>
                    </a:moveTo>
                    <a:lnTo>
                      <a:pt x="0" y="66675"/>
                    </a:lnTo>
                    <a:cubicBezTo>
                      <a:pt x="0" y="29851"/>
                      <a:pt x="29851" y="0"/>
                      <a:pt x="66675" y="0"/>
                    </a:cubicBezTo>
                    <a:cubicBezTo>
                      <a:pt x="103499" y="0"/>
                      <a:pt x="133350" y="29851"/>
                      <a:pt x="133350" y="66675"/>
                    </a:cubicBezTo>
                    <a:lnTo>
                      <a:pt x="133350" y="257175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52" name="Rectangle 52"/>
            <p:cNvSpPr/>
            <p:nvPr/>
          </p:nvSpPr>
          <p:spPr>
            <a:xfrm>
              <a:off x="14331950" y="3476625"/>
              <a:ext cx="647700" cy="285750"/>
            </a:xfrm>
            <a:prstGeom prst="roundRect">
              <a:avLst>
                <a:gd name="adj" fmla="val 50000"/>
              </a:avLst>
            </a:prstGeom>
            <a:solidFill>
              <a:srgbClr val="070B19"/>
            </a:solidFill>
            <a:ln w="14288">
              <a:solidFill>
                <a:srgbClr val="A855F7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4596465" y="352107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350" b="1" dirty="0">
                  <a:solidFill>
                    <a:srgbClr val="A855F7"/>
                  </a:solidFill>
                  <a:latin typeface="Yekan Bakh"/>
                  <a:ea typeface="Yekan Bakh"/>
                  <a:cs typeface="Yekan Bakh"/>
                </a:rPr>
                <a:t>۱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3331628" y="3889375"/>
              <a:ext cx="26483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شبکه‌های عصبی عمیق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16735425" y="46005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4001369" y="4537075"/>
              <a:ext cx="25797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مدل‌های ترنسفورمر چندوجهی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16735425" y="50577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3940790" y="49942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پردازش زبان طبیعی پیشرفته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16735425" y="55149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3425868" y="5451475"/>
              <a:ext cx="31552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تولید تصاویر و مدیا با دقت بالا</a:t>
              </a:r>
            </a:p>
          </p:txBody>
        </p:sp>
      </p:grpSp>
      <p:grpSp>
        <p:nvGrpSpPr>
          <p:cNvPr id="89" name="card_2"/>
          <p:cNvGrpSpPr/>
          <p:nvPr/>
        </p:nvGrpSpPr>
        <p:grpSpPr>
          <a:xfrm>
            <a:off x="6559550" y="2085975"/>
            <a:ext cx="5168900" cy="6867525"/>
            <a:chOff x="6559550" y="2085975"/>
            <a:chExt cx="5168900" cy="6867525"/>
          </a:xfrm>
        </p:grpSpPr>
        <p:sp>
          <p:nvSpPr>
            <p:cNvPr id="62" name="Rectangle 62"/>
            <p:cNvSpPr/>
            <p:nvPr/>
          </p:nvSpPr>
          <p:spPr>
            <a:xfrm>
              <a:off x="6559550" y="2381250"/>
              <a:ext cx="5168900" cy="6572250"/>
            </a:xfrm>
            <a:prstGeom prst="roundRect">
              <a:avLst>
                <a:gd name="adj" fmla="val 6265"/>
              </a:avLst>
            </a:prstGeom>
            <a:solidFill>
              <a:srgbClr val="10182F"/>
            </a:solidFill>
            <a:ln w="23812">
              <a:solidFill>
                <a:srgbClr val="2563EB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6940550" y="2381250"/>
              <a:ext cx="4406900" cy="47625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grpSp>
          <p:nvGrpSpPr>
            <p:cNvPr id="67" name="spin_card_halo_2"/>
            <p:cNvGrpSpPr/>
            <p:nvPr/>
          </p:nvGrpSpPr>
          <p:grpSpPr>
            <a:xfrm>
              <a:off x="8420100" y="2085975"/>
              <a:ext cx="1447800" cy="1447800"/>
              <a:chOff x="8420100" y="2085975"/>
              <a:chExt cx="1447800" cy="1447800"/>
            </a:xfrm>
          </p:grpSpPr>
          <p:sp>
            <p:nvSpPr>
              <p:cNvPr id="64" name="Ellipse 64"/>
              <p:cNvSpPr/>
              <p:nvPr/>
            </p:nvSpPr>
            <p:spPr>
              <a:xfrm>
                <a:off x="8515350" y="2181225"/>
                <a:ext cx="1257300" cy="1257300"/>
              </a:xfrm>
              <a:prstGeom prst="ellipse">
                <a:avLst/>
              </a:prstGeom>
              <a:noFill/>
              <a:ln w="19050">
                <a:solidFill>
                  <a:srgbClr val="00F0FF">
                    <a:alpha val="55000"/>
                  </a:srgbClr>
                </a:solidFill>
                <a:custDash>
                  <a:ds d="300000" sp="250000"/>
                </a:custDash>
              </a:ln>
            </p:spPr>
          </p:sp>
          <p:sp>
            <p:nvSpPr>
              <p:cNvPr id="65" name="Ellipse 65"/>
              <p:cNvSpPr/>
              <p:nvPr/>
            </p:nvSpPr>
            <p:spPr>
              <a:xfrm>
                <a:off x="8420100" y="2085975"/>
                <a:ext cx="1447800" cy="1447800"/>
              </a:xfrm>
              <a:prstGeom prst="ellipse">
                <a:avLst/>
              </a:prstGeom>
              <a:noFill/>
              <a:ln w="9525">
                <a:solidFill>
                  <a:srgbClr val="A855F7">
                    <a:alpha val="30000"/>
                  </a:srgbClr>
                </a:solidFill>
                <a:custDash>
                  <a:ds d="300000" sp="600000"/>
                </a:custDash>
              </a:ln>
            </p:spPr>
          </p:sp>
          <p:sp>
            <p:nvSpPr>
              <p:cNvPr id="66" name="Ellipse 66"/>
              <p:cNvSpPr/>
              <p:nvPr/>
            </p:nvSpPr>
            <p:spPr>
              <a:xfrm>
                <a:off x="9734550" y="2771775"/>
                <a:ext cx="76200" cy="76200"/>
              </a:xfrm>
              <a:prstGeom prst="ellipse">
                <a:avLst/>
              </a:prstGeom>
              <a:solidFill>
                <a:srgbClr val="EC4899"/>
              </a:solidFill>
              <a:ln>
                <a:noFill/>
              </a:ln>
            </p:spPr>
          </p:sp>
        </p:grpSp>
        <p:sp>
          <p:nvSpPr>
            <p:cNvPr id="68" name="Ellipse 68"/>
            <p:cNvSpPr/>
            <p:nvPr/>
          </p:nvSpPr>
          <p:spPr>
            <a:xfrm>
              <a:off x="8648700" y="2314575"/>
              <a:ext cx="990600" cy="990600"/>
            </a:xfrm>
            <a:prstGeom prst="ellipse">
              <a:avLst/>
            </a:prstGeom>
            <a:solidFill>
              <a:srgbClr val="132147"/>
            </a:solidFill>
            <a:ln w="26670">
              <a:solidFill>
                <a:srgbClr val="00F0FF"/>
              </a:solidFill>
            </a:ln>
          </p:spPr>
        </p:sp>
        <p:grpSp>
          <p:nvGrpSpPr>
            <p:cNvPr id="79" name="Group 79"/>
            <p:cNvGrpSpPr/>
            <p:nvPr/>
          </p:nvGrpSpPr>
          <p:grpSpPr>
            <a:xfrm>
              <a:off x="8972550" y="2638425"/>
              <a:ext cx="342900" cy="342900"/>
              <a:chOff x="8972550" y="2638425"/>
              <a:chExt cx="342900" cy="34290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9010650" y="2676525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247650" y="0"/>
                    </a:lnTo>
                    <a:cubicBezTo>
                      <a:pt x="258171" y="0"/>
                      <a:pt x="266700" y="8529"/>
                      <a:pt x="266700" y="19050"/>
                    </a:cubicBezTo>
                    <a:lnTo>
                      <a:pt x="266700" y="247650"/>
                    </a:lnTo>
                    <a:cubicBezTo>
                      <a:pt x="266700" y="258171"/>
                      <a:pt x="258171" y="266700"/>
                      <a:pt x="247650" y="266700"/>
                    </a:cubicBezTo>
                    <a:lnTo>
                      <a:pt x="19050" y="266700"/>
                    </a:lnTo>
                    <a:cubicBezTo>
                      <a:pt x="8529" y="266700"/>
                      <a:pt x="0" y="258171"/>
                      <a:pt x="0" y="2476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9086850" y="2752725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0"/>
                    </a:moveTo>
                    <a:lnTo>
                      <a:pt x="114300" y="0"/>
                    </a:lnTo>
                    <a:lnTo>
                      <a:pt x="114300" y="114300"/>
                    </a:lnTo>
                    <a:lnTo>
                      <a:pt x="0" y="114300"/>
                    </a:ln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972550" y="2771775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972550" y="2847975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9105900" y="263842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9182100" y="263842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9277350" y="2771775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38100" y="0"/>
                    </a:move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9277350" y="2847975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38100" y="0"/>
                    </a:move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9182100" y="294322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38100"/>
                    </a:move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9105900" y="294322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38100"/>
                    </a:moveTo>
                    <a:lnTo>
                      <a:pt x="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80" name="Rectangle 80"/>
            <p:cNvSpPr/>
            <p:nvPr/>
          </p:nvSpPr>
          <p:spPr>
            <a:xfrm>
              <a:off x="8820150" y="3476625"/>
              <a:ext cx="647700" cy="285750"/>
            </a:xfrm>
            <a:prstGeom prst="roundRect">
              <a:avLst>
                <a:gd name="adj" fmla="val 50000"/>
              </a:avLst>
            </a:prstGeom>
            <a:solidFill>
              <a:srgbClr val="070B19"/>
            </a:solidFill>
            <a:ln w="14288">
              <a:solidFill>
                <a:srgbClr val="A855F7"/>
              </a:solidFill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9084665" y="352107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350" b="1" dirty="0">
                  <a:solidFill>
                    <a:srgbClr val="A855F7"/>
                  </a:solidFill>
                  <a:latin typeface="Yekan Bakh"/>
                  <a:ea typeface="Yekan Bakh"/>
                  <a:cs typeface="Yekan Bakh"/>
                </a:rPr>
                <a:t>۲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411677" y="3889375"/>
              <a:ext cx="34646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زیرساخت ابری مقیاس‌پذیر</a:t>
              </a:r>
            </a:p>
          </p:txBody>
        </p:sp>
        <p:sp>
          <p:nvSpPr>
            <p:cNvPr id="83" name="Ellipse 83"/>
            <p:cNvSpPr/>
            <p:nvPr/>
          </p:nvSpPr>
          <p:spPr>
            <a:xfrm>
              <a:off x="11223625" y="46005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8216392" y="4537075"/>
              <a:ext cx="28529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کلاسترهای پردازش GPU و TPU</a:t>
              </a:r>
            </a:p>
          </p:txBody>
        </p:sp>
        <p:sp>
          <p:nvSpPr>
            <p:cNvPr id="85" name="Ellipse 85"/>
            <p:cNvSpPr/>
            <p:nvPr/>
          </p:nvSpPr>
          <p:spPr>
            <a:xfrm>
              <a:off x="11223625" y="50577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8711692" y="4994275"/>
              <a:ext cx="23576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سیستم‌های توزیع‌شده داده</a:t>
              </a:r>
            </a:p>
          </p:txBody>
        </p:sp>
        <p:sp>
          <p:nvSpPr>
            <p:cNvPr id="87" name="Ellipse 87"/>
            <p:cNvSpPr/>
            <p:nvPr/>
          </p:nvSpPr>
          <p:spPr>
            <a:xfrm>
              <a:off x="11223625" y="55149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7749500" y="5451475"/>
              <a:ext cx="3319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پایپ‌لاین‌های بلادرنگ (Real-time)</a:t>
              </a:r>
            </a:p>
          </p:txBody>
        </p:sp>
      </p:grpSp>
      <p:grpSp>
        <p:nvGrpSpPr>
          <p:cNvPr id="109" name="card_3"/>
          <p:cNvGrpSpPr/>
          <p:nvPr/>
        </p:nvGrpSpPr>
        <p:grpSpPr>
          <a:xfrm>
            <a:off x="1047750" y="2085975"/>
            <a:ext cx="5168900" cy="6867525"/>
            <a:chOff x="1047750" y="2085975"/>
            <a:chExt cx="5168900" cy="6867525"/>
          </a:xfrm>
        </p:grpSpPr>
        <p:sp>
          <p:nvSpPr>
            <p:cNvPr id="90" name="Rectangle 90"/>
            <p:cNvSpPr/>
            <p:nvPr/>
          </p:nvSpPr>
          <p:spPr>
            <a:xfrm>
              <a:off x="1047750" y="2381250"/>
              <a:ext cx="5168900" cy="6572250"/>
            </a:xfrm>
            <a:prstGeom prst="roundRect">
              <a:avLst>
                <a:gd name="adj" fmla="val 6265"/>
              </a:avLst>
            </a:prstGeom>
            <a:solidFill>
              <a:srgbClr val="10182F"/>
            </a:solidFill>
            <a:ln w="23812">
              <a:solidFill>
                <a:srgbClr val="2563EB"/>
              </a:solidFill>
            </a:ln>
          </p:spPr>
        </p:sp>
        <p:sp>
          <p:nvSpPr>
            <p:cNvPr id="91" name="Rectangle 91"/>
            <p:cNvSpPr/>
            <p:nvPr/>
          </p:nvSpPr>
          <p:spPr>
            <a:xfrm>
              <a:off x="1428750" y="2381250"/>
              <a:ext cx="4406900" cy="47625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grpSp>
          <p:nvGrpSpPr>
            <p:cNvPr id="95" name="spin_card_halo_3"/>
            <p:cNvGrpSpPr/>
            <p:nvPr/>
          </p:nvGrpSpPr>
          <p:grpSpPr>
            <a:xfrm>
              <a:off x="2908300" y="2085975"/>
              <a:ext cx="1447800" cy="1447800"/>
              <a:chOff x="2908300" y="2085975"/>
              <a:chExt cx="1447800" cy="1447800"/>
            </a:xfrm>
          </p:grpSpPr>
          <p:sp>
            <p:nvSpPr>
              <p:cNvPr id="92" name="Ellipse 92"/>
              <p:cNvSpPr/>
              <p:nvPr/>
            </p:nvSpPr>
            <p:spPr>
              <a:xfrm>
                <a:off x="3003550" y="2181225"/>
                <a:ext cx="1257300" cy="1257300"/>
              </a:xfrm>
              <a:prstGeom prst="ellipse">
                <a:avLst/>
              </a:prstGeom>
              <a:noFill/>
              <a:ln w="19050">
                <a:solidFill>
                  <a:srgbClr val="00F0FF">
                    <a:alpha val="55000"/>
                  </a:srgbClr>
                </a:solidFill>
                <a:custDash>
                  <a:ds d="300000" sp="250000"/>
                </a:custDash>
              </a:ln>
            </p:spPr>
          </p:sp>
          <p:sp>
            <p:nvSpPr>
              <p:cNvPr id="93" name="Ellipse 93"/>
              <p:cNvSpPr/>
              <p:nvPr/>
            </p:nvSpPr>
            <p:spPr>
              <a:xfrm>
                <a:off x="2908300" y="2085975"/>
                <a:ext cx="1447800" cy="1447800"/>
              </a:xfrm>
              <a:prstGeom prst="ellipse">
                <a:avLst/>
              </a:prstGeom>
              <a:noFill/>
              <a:ln w="9525">
                <a:solidFill>
                  <a:srgbClr val="A855F7">
                    <a:alpha val="30000"/>
                  </a:srgbClr>
                </a:solidFill>
                <a:custDash>
                  <a:ds d="300000" sp="600000"/>
                </a:custDash>
              </a:ln>
            </p:spPr>
          </p:sp>
          <p:sp>
            <p:nvSpPr>
              <p:cNvPr id="94" name="Ellipse 94"/>
              <p:cNvSpPr/>
              <p:nvPr/>
            </p:nvSpPr>
            <p:spPr>
              <a:xfrm>
                <a:off x="4222750" y="2771775"/>
                <a:ext cx="76200" cy="76200"/>
              </a:xfrm>
              <a:prstGeom prst="ellipse">
                <a:avLst/>
              </a:prstGeom>
              <a:solidFill>
                <a:srgbClr val="EC4899"/>
              </a:solidFill>
              <a:ln>
                <a:noFill/>
              </a:ln>
            </p:spPr>
          </p:sp>
        </p:grpSp>
        <p:sp>
          <p:nvSpPr>
            <p:cNvPr id="96" name="Ellipse 96"/>
            <p:cNvSpPr/>
            <p:nvPr/>
          </p:nvSpPr>
          <p:spPr>
            <a:xfrm>
              <a:off x="3136900" y="2314575"/>
              <a:ext cx="990600" cy="990600"/>
            </a:xfrm>
            <a:prstGeom prst="ellipse">
              <a:avLst/>
            </a:prstGeom>
            <a:solidFill>
              <a:srgbClr val="132147"/>
            </a:solidFill>
            <a:ln w="26670">
              <a:solidFill>
                <a:srgbClr val="00F0FF"/>
              </a:solidFill>
            </a:ln>
          </p:spPr>
        </p:sp>
        <p:grpSp>
          <p:nvGrpSpPr>
            <p:cNvPr id="99" name="Group 99"/>
            <p:cNvGrpSpPr/>
            <p:nvPr/>
          </p:nvGrpSpPr>
          <p:grpSpPr>
            <a:xfrm>
              <a:off x="3435041" y="2638425"/>
              <a:ext cx="372013" cy="342900"/>
              <a:chOff x="3435041" y="2638425"/>
              <a:chExt cx="372013" cy="34290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3435041" y="2638425"/>
                <a:ext cx="372013" cy="339966"/>
              </a:xfrm>
              <a:custGeom>
                <a:avLst/>
                <a:gdLst/>
                <a:ahLst/>
                <a:cxnLst/>
                <a:rect l="l" t="t" r="r" b="b"/>
                <a:pathLst>
                  <a:path w="372013" h="339966">
                    <a:moveTo>
                      <a:pt x="186872" y="339966"/>
                    </a:moveTo>
                    <a:cubicBezTo>
                      <a:pt x="67532" y="302974"/>
                      <a:pt x="0" y="177021"/>
                      <a:pt x="35234" y="57150"/>
                    </a:cubicBezTo>
                    <a:cubicBezTo>
                      <a:pt x="94585" y="59866"/>
                      <a:pt x="152661" y="39368"/>
                      <a:pt x="197159" y="0"/>
                    </a:cubicBezTo>
                    <a:cubicBezTo>
                      <a:pt x="241657" y="39368"/>
                      <a:pt x="299733" y="59866"/>
                      <a:pt x="359084" y="57150"/>
                    </a:cubicBezTo>
                    <a:cubicBezTo>
                      <a:pt x="372013" y="101139"/>
                      <a:pt x="371415" y="147998"/>
                      <a:pt x="357369" y="191643"/>
                    </a:cubicBez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3689350" y="2905125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38100"/>
                    </a:moveTo>
                    <a:lnTo>
                      <a:pt x="38100" y="76200"/>
                    </a:lnTo>
                    <a:lnTo>
                      <a:pt x="114300" y="0"/>
                    </a:lnTo>
                  </a:path>
                </a:pathLst>
              </a:custGeom>
              <a:noFill/>
              <a:ln w="38100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100" name="Rectangle 100"/>
            <p:cNvSpPr/>
            <p:nvPr/>
          </p:nvSpPr>
          <p:spPr>
            <a:xfrm>
              <a:off x="3308350" y="3476625"/>
              <a:ext cx="647700" cy="285750"/>
            </a:xfrm>
            <a:prstGeom prst="roundRect">
              <a:avLst>
                <a:gd name="adj" fmla="val 50000"/>
              </a:avLst>
            </a:prstGeom>
            <a:solidFill>
              <a:srgbClr val="070B19"/>
            </a:solidFill>
            <a:ln w="14288">
              <a:solidFill>
                <a:srgbClr val="A855F7"/>
              </a:solidFill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3572865" y="352107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350" b="1" dirty="0">
                  <a:solidFill>
                    <a:srgbClr val="A855F7"/>
                  </a:solidFill>
                  <a:latin typeface="Yekan Bakh"/>
                  <a:ea typeface="Yekan Bakh"/>
                  <a:cs typeface="Yekan Bakh"/>
                </a:rPr>
                <a:t>۳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2263502" y="3889375"/>
              <a:ext cx="273739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امنیت و حریم خصوصی</a:t>
              </a:r>
            </a:p>
          </p:txBody>
        </p:sp>
        <p:sp>
          <p:nvSpPr>
            <p:cNvPr id="103" name="Ellipse 103"/>
            <p:cNvSpPr/>
            <p:nvPr/>
          </p:nvSpPr>
          <p:spPr>
            <a:xfrm>
              <a:off x="5711825" y="46005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3088830" y="4537075"/>
              <a:ext cx="24686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رمزنگاری سرتاسری داده‌ها</a:t>
              </a:r>
            </a:p>
          </p:txBody>
        </p:sp>
        <p:sp>
          <p:nvSpPr>
            <p:cNvPr id="105" name="Ellipse 105"/>
            <p:cNvSpPr/>
            <p:nvPr/>
          </p:nvSpPr>
          <p:spPr>
            <a:xfrm>
              <a:off x="5711825" y="50577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2584005" y="4994275"/>
              <a:ext cx="29735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انطباق با استانداردهای جهانی</a:t>
              </a:r>
            </a:p>
          </p:txBody>
        </p:sp>
        <p:sp>
          <p:nvSpPr>
            <p:cNvPr id="107" name="Ellipse 107"/>
            <p:cNvSpPr/>
            <p:nvPr/>
          </p:nvSpPr>
          <p:spPr>
            <a:xfrm>
              <a:off x="5711825" y="5514975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2523426" y="5451475"/>
              <a:ext cx="30340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حفاظت از اطلاعات حساس کاربران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6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23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50"/>
                            </p:stCondLst>
                            <p:childTnLst>
                              <p:par>
                                <p:cTn xmlns:p="http://schemas.openxmlformats.org/presentationml/2006/main" id="27" presetID="2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400"/>
                            </p:stCondLst>
                            <p:childTnLst>
                              <p:par>
                                <p:cTn xmlns:p="http://schemas.openxmlformats.org/presentationml/2006/main" id="31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5969000"/>
            <a:ext cx="18288000" cy="4318000"/>
            <a:chOff x="0" y="5969000"/>
            <a:chExt cx="18288000" cy="4318000"/>
          </a:xfrm>
        </p:grpSpPr>
        <p:sp>
          <p:nvSpPr>
            <p:cNvPr id="2" name="Freeform 2"/>
            <p:cNvSpPr/>
            <p:nvPr/>
          </p:nvSpPr>
          <p:spPr>
            <a:xfrm>
              <a:off x="0" y="5969000"/>
              <a:ext cx="18288000" cy="4318000"/>
            </a:xfrm>
            <a:custGeom>
              <a:avLst/>
              <a:gdLst/>
              <a:ahLst/>
              <a:cxnLst/>
              <a:rect l="l" t="t" r="r" b="b"/>
              <a:pathLst>
                <a:path w="18288000" h="4318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  <a:lnTo>
                    <a:pt x="18288000" y="4318000"/>
                  </a:lnTo>
                  <a:lnTo>
                    <a:pt x="0" y="4318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7366000"/>
              <a:ext cx="18288000" cy="2921000"/>
            </a:xfrm>
            <a:custGeom>
              <a:avLst/>
              <a:gdLst/>
              <a:ahLst/>
              <a:cxnLst/>
              <a:rect l="l" t="t" r="r" b="b"/>
              <a:pathLst>
                <a:path w="18288000" h="2921000">
                  <a:moveTo>
                    <a:pt x="0" y="635000"/>
                  </a:moveTo>
                  <a:cubicBezTo>
                    <a:pt x="3302000" y="0"/>
                    <a:pt x="6731000" y="190500"/>
                    <a:pt x="10287000" y="1206500"/>
                  </a:cubicBezTo>
                  <a:cubicBezTo>
                    <a:pt x="13843000" y="2222500"/>
                    <a:pt x="16510000" y="1968500"/>
                    <a:pt x="18288000" y="444500"/>
                  </a:cubicBezTo>
                  <a:lnTo>
                    <a:pt x="182880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5969000"/>
              <a:ext cx="18288000" cy="2413000"/>
            </a:xfrm>
            <a:custGeom>
              <a:avLst/>
              <a:gdLst/>
              <a:ahLst/>
              <a:cxnLst/>
              <a:rect l="l" t="t" r="r" b="b"/>
              <a:pathLst>
                <a:path w="18288000" h="2413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</a:path>
              </a:pathLst>
            </a:custGeom>
            <a:noFill/>
            <a:ln w="28575">
              <a:solidFill>
                <a:srgbClr val="00F0FF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7" name="header_group"/>
          <p:cNvGrpSpPr/>
          <p:nvPr/>
        </p:nvGrpSpPr>
        <p:grpSpPr>
          <a:xfrm>
            <a:off x="7687292" y="822325"/>
            <a:ext cx="9475996" cy="1008888"/>
            <a:chOff x="7687292" y="822325"/>
            <a:chExt cx="9475996" cy="1008888"/>
          </a:xfrm>
        </p:grpSpPr>
        <p:sp>
          <p:nvSpPr>
            <p:cNvPr id="35" name="TextBox 35"/>
            <p:cNvSpPr txBox="1"/>
            <p:nvPr/>
          </p:nvSpPr>
          <p:spPr>
            <a:xfrm>
              <a:off x="15144331" y="822325"/>
              <a:ext cx="20082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نقشه راه پیاده‌سازی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87292" y="1127125"/>
              <a:ext cx="94759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مراحل گام‌به‌گام استقرار مدل در سازمان</a:t>
              </a:r>
            </a:p>
          </p:txBody>
        </p:sp>
      </p:grpSp>
      <p:sp>
        <p:nvSpPr>
          <p:cNvPr id="38" name="Line 38"/>
          <p:cNvSpPr/>
          <p:nvPr/>
        </p:nvSpPr>
        <p:spPr>
          <a:xfrm>
            <a:off x="1809750" y="3333750"/>
            <a:ext cx="14668500" cy="9525"/>
          </a:xfrm>
          <a:custGeom>
            <a:avLst/>
            <a:gdLst/>
            <a:ahLst/>
            <a:cxnLst/>
            <a:rect l="l" t="t" r="r" b="b"/>
            <a:pathLst>
              <a:path w="14668500" h="9525">
                <a:moveTo>
                  <a:pt x="0" y="0"/>
                </a:moveTo>
                <a:lnTo>
                  <a:pt x="14668500" y="0"/>
                </a:lnTo>
              </a:path>
            </a:pathLst>
          </a:custGeom>
          <a:noFill/>
          <a:ln w="57150">
            <a:solidFill>
              <a:srgbClr val="2563EB"/>
            </a:solidFill>
            <a:custDash>
              <a:ds d="233333" sp="166667"/>
            </a:custDash>
          </a:ln>
        </p:spPr>
      </p:sp>
      <p:sp>
        <p:nvSpPr>
          <p:cNvPr id="39" name="Line 39"/>
          <p:cNvSpPr/>
          <p:nvPr/>
        </p:nvSpPr>
        <p:spPr>
          <a:xfrm>
            <a:off x="1809750" y="3333750"/>
            <a:ext cx="14668500" cy="9525"/>
          </a:xfrm>
          <a:custGeom>
            <a:avLst/>
            <a:gdLst/>
            <a:ahLst/>
            <a:cxnLst/>
            <a:rect l="l" t="t" r="r" b="b"/>
            <a:pathLst>
              <a:path w="14668500" h="9525">
                <a:moveTo>
                  <a:pt x="0" y="0"/>
                </a:moveTo>
                <a:lnTo>
                  <a:pt x="14668500" y="0"/>
                </a:lnTo>
              </a:path>
            </a:pathLst>
          </a:custGeom>
          <a:noFill/>
          <a:ln w="23812">
            <a:solidFill>
              <a:srgbClr val="00F0FF">
                <a:alpha val="80000"/>
              </a:srgbClr>
            </a:solidFill>
          </a:ln>
        </p:spPr>
      </p:sp>
      <p:grpSp>
        <p:nvGrpSpPr>
          <p:cNvPr id="61" name="step_node_1"/>
          <p:cNvGrpSpPr/>
          <p:nvPr/>
        </p:nvGrpSpPr>
        <p:grpSpPr>
          <a:xfrm>
            <a:off x="11899900" y="2095500"/>
            <a:ext cx="5168900" cy="6858000"/>
            <a:chOff x="11899900" y="2095500"/>
            <a:chExt cx="5168900" cy="6858000"/>
          </a:xfrm>
        </p:grpSpPr>
        <p:grpSp>
          <p:nvGrpSpPr>
            <p:cNvPr id="44" name="spin_step_orbit_1"/>
            <p:cNvGrpSpPr/>
            <p:nvPr/>
          </p:nvGrpSpPr>
          <p:grpSpPr>
            <a:xfrm>
              <a:off x="13246100" y="2095500"/>
              <a:ext cx="2476500" cy="2476500"/>
              <a:chOff x="13246100" y="2095500"/>
              <a:chExt cx="2476500" cy="2476500"/>
            </a:xfrm>
          </p:grpSpPr>
          <p:sp>
            <p:nvSpPr>
              <p:cNvPr id="40" name="Ellipse 40"/>
              <p:cNvSpPr/>
              <p:nvPr/>
            </p:nvSpPr>
            <p:spPr>
              <a:xfrm>
                <a:off x="13388975" y="2238375"/>
                <a:ext cx="2190750" cy="2190750"/>
              </a:xfrm>
              <a:prstGeom prst="ellipse">
                <a:avLst/>
              </a:prstGeom>
              <a:noFill/>
              <a:ln w="23812">
                <a:solidFill>
                  <a:srgbClr val="00F0FF">
                    <a:alpha val="60000"/>
                  </a:srgbClr>
                </a:solidFill>
                <a:custDash>
                  <a:ds d="320000" sp="240000"/>
                </a:custDash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13246100" y="2095500"/>
                <a:ext cx="2476500" cy="2476500"/>
              </a:xfrm>
              <a:prstGeom prst="ellipse">
                <a:avLst/>
              </a:prstGeom>
              <a:noFill/>
              <a:ln w="11430">
                <a:solidFill>
                  <a:srgbClr val="A855F7">
                    <a:alpha val="40000"/>
                  </a:srgbClr>
                </a:solidFill>
                <a:custDash>
                  <a:ds d="333333" sp="666667"/>
                </a:custDash>
              </a:ln>
            </p:spPr>
          </p:sp>
          <p:sp>
            <p:nvSpPr>
              <p:cNvPr id="42" name="Ellipse 42"/>
              <p:cNvSpPr/>
              <p:nvPr/>
            </p:nvSpPr>
            <p:spPr>
              <a:xfrm>
                <a:off x="15527338" y="3281362"/>
                <a:ext cx="104775" cy="104775"/>
              </a:xfrm>
              <a:prstGeom prst="ellipse">
                <a:avLst/>
              </a:prstGeom>
              <a:solidFill>
                <a:srgbClr val="EC4899"/>
              </a:solidFill>
              <a:ln>
                <a:noFill/>
              </a:ln>
            </p:spPr>
          </p:sp>
          <p:sp>
            <p:nvSpPr>
              <p:cNvPr id="43" name="Ellipse 43"/>
              <p:cNvSpPr/>
              <p:nvPr/>
            </p:nvSpPr>
            <p:spPr>
              <a:xfrm>
                <a:off x="13346112" y="3290888"/>
                <a:ext cx="85725" cy="85725"/>
              </a:xfrm>
              <a:prstGeom prst="ellipse">
                <a:avLst/>
              </a:prstGeom>
              <a:solidFill>
                <a:srgbClr val="00F0FF"/>
              </a:solidFill>
              <a:ln>
                <a:noFill/>
              </a:ln>
            </p:spPr>
          </p:sp>
        </p:grpSp>
        <p:sp>
          <p:nvSpPr>
            <p:cNvPr id="45" name="Ellipse 45"/>
            <p:cNvSpPr/>
            <p:nvPr/>
          </p:nvSpPr>
          <p:spPr>
            <a:xfrm>
              <a:off x="13608050" y="2457450"/>
              <a:ext cx="1752600" cy="1752600"/>
            </a:xfrm>
            <a:prstGeom prst="ellipse">
              <a:avLst/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14236700" y="2381250"/>
              <a:ext cx="495300" cy="495300"/>
            </a:xfrm>
            <a:prstGeom prst="ellipse">
              <a:avLst/>
            </a:prstGeom>
            <a:solidFill>
              <a:srgbClr val="132147"/>
            </a:solidFill>
            <a:ln w="23812">
              <a:solidFill>
                <a:srgbClr val="A855F7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4411830" y="2520950"/>
              <a:ext cx="1450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۱</a:t>
              </a:r>
            </a:p>
          </p:txBody>
        </p:sp>
        <p:grpSp>
          <p:nvGrpSpPr>
            <p:cNvPr id="51" name="Group 51"/>
            <p:cNvGrpSpPr/>
            <p:nvPr/>
          </p:nvGrpSpPr>
          <p:grpSpPr>
            <a:xfrm>
              <a:off x="14331950" y="3162300"/>
              <a:ext cx="304800" cy="342900"/>
              <a:chOff x="14331950" y="3162300"/>
              <a:chExt cx="304800" cy="3429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14331950" y="3162300"/>
                <a:ext cx="3048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14300">
                    <a:moveTo>
                      <a:pt x="0" y="57150"/>
                    </a:moveTo>
                    <a:cubicBezTo>
                      <a:pt x="0" y="88713"/>
                      <a:pt x="68232" y="114300"/>
                      <a:pt x="152400" y="114300"/>
                    </a:cubicBezTo>
                    <a:cubicBezTo>
                      <a:pt x="236568" y="114300"/>
                      <a:pt x="304800" y="88713"/>
                      <a:pt x="304800" y="57150"/>
                    </a:cubicBezTo>
                    <a:cubicBezTo>
                      <a:pt x="304800" y="25587"/>
                      <a:pt x="236568" y="0"/>
                      <a:pt x="152400" y="0"/>
                    </a:cubicBezTo>
                    <a:cubicBezTo>
                      <a:pt x="68232" y="0"/>
                      <a:pt x="0" y="25587"/>
                      <a:pt x="0" y="571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4331950" y="3219450"/>
                <a:ext cx="3048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71450">
                    <a:moveTo>
                      <a:pt x="0" y="0"/>
                    </a:moveTo>
                    <a:lnTo>
                      <a:pt x="0" y="114300"/>
                    </a:lnTo>
                    <a:cubicBezTo>
                      <a:pt x="0" y="145863"/>
                      <a:pt x="68232" y="171450"/>
                      <a:pt x="152400" y="171450"/>
                    </a:cubicBezTo>
                    <a:cubicBezTo>
                      <a:pt x="236568" y="171450"/>
                      <a:pt x="304800" y="145863"/>
                      <a:pt x="304800" y="114300"/>
                    </a:cubicBezTo>
                    <a:lnTo>
                      <a:pt x="304800" y="0"/>
                    </a:ln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14331950" y="3333750"/>
                <a:ext cx="3048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71450">
                    <a:moveTo>
                      <a:pt x="0" y="0"/>
                    </a:moveTo>
                    <a:lnTo>
                      <a:pt x="0" y="114300"/>
                    </a:lnTo>
                    <a:cubicBezTo>
                      <a:pt x="0" y="145863"/>
                      <a:pt x="68232" y="171450"/>
                      <a:pt x="152400" y="171450"/>
                    </a:cubicBezTo>
                    <a:cubicBezTo>
                      <a:pt x="236568" y="171450"/>
                      <a:pt x="304800" y="145863"/>
                      <a:pt x="304800" y="114300"/>
                    </a:cubicBezTo>
                    <a:lnTo>
                      <a:pt x="304800" y="0"/>
                    </a:ln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3398760" y="3657600"/>
              <a:ext cx="217118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8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یکپارچه‌سازی داده‌ها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11899900" y="4857750"/>
              <a:ext cx="5168900" cy="4095750"/>
            </a:xfrm>
            <a:prstGeom prst="roundRect">
              <a:avLst>
                <a:gd name="adj" fmla="val 7442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12185650" y="4857750"/>
              <a:ext cx="4597400" cy="38100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55" name="Ellipse 55"/>
            <p:cNvSpPr/>
            <p:nvPr/>
          </p:nvSpPr>
          <p:spPr>
            <a:xfrm>
              <a:off x="16602075" y="53244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4052964" y="5251450"/>
              <a:ext cx="23944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جمع‌آوری و پاک‌سازی داده‌ها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16602075" y="57435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4110312" y="5670550"/>
              <a:ext cx="23370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اعتبارسنجی خطاهای ورودی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16602075" y="61626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4052964" y="6089650"/>
              <a:ext cx="23944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ایجاد خطوط انتقال خودکار</a:t>
              </a:r>
            </a:p>
          </p:txBody>
        </p:sp>
      </p:grpSp>
      <p:grpSp>
        <p:nvGrpSpPr>
          <p:cNvPr id="83" name="step_node_2"/>
          <p:cNvGrpSpPr/>
          <p:nvPr/>
        </p:nvGrpSpPr>
        <p:grpSpPr>
          <a:xfrm>
            <a:off x="6388100" y="2095500"/>
            <a:ext cx="5168900" cy="6858000"/>
            <a:chOff x="6388100" y="2095500"/>
            <a:chExt cx="5168900" cy="6858000"/>
          </a:xfrm>
        </p:grpSpPr>
        <p:grpSp>
          <p:nvGrpSpPr>
            <p:cNvPr id="66" name="spin_step_orbit_2"/>
            <p:cNvGrpSpPr/>
            <p:nvPr/>
          </p:nvGrpSpPr>
          <p:grpSpPr>
            <a:xfrm>
              <a:off x="7734300" y="2095500"/>
              <a:ext cx="2476500" cy="2476500"/>
              <a:chOff x="7734300" y="2095500"/>
              <a:chExt cx="2476500" cy="2476500"/>
            </a:xfrm>
          </p:grpSpPr>
          <p:sp>
            <p:nvSpPr>
              <p:cNvPr id="62" name="Ellipse 62"/>
              <p:cNvSpPr/>
              <p:nvPr/>
            </p:nvSpPr>
            <p:spPr>
              <a:xfrm>
                <a:off x="7877175" y="2238375"/>
                <a:ext cx="2190750" cy="2190750"/>
              </a:xfrm>
              <a:prstGeom prst="ellipse">
                <a:avLst/>
              </a:prstGeom>
              <a:noFill/>
              <a:ln w="23812">
                <a:solidFill>
                  <a:srgbClr val="00F0FF">
                    <a:alpha val="60000"/>
                  </a:srgbClr>
                </a:solidFill>
                <a:custDash>
                  <a:ds d="320000" sp="240000"/>
                </a:custDash>
              </a:ln>
            </p:spPr>
          </p:sp>
          <p:sp>
            <p:nvSpPr>
              <p:cNvPr id="63" name="Ellipse 63"/>
              <p:cNvSpPr/>
              <p:nvPr/>
            </p:nvSpPr>
            <p:spPr>
              <a:xfrm>
                <a:off x="7734300" y="2095500"/>
                <a:ext cx="2476500" cy="2476500"/>
              </a:xfrm>
              <a:prstGeom prst="ellipse">
                <a:avLst/>
              </a:prstGeom>
              <a:noFill/>
              <a:ln w="11430">
                <a:solidFill>
                  <a:srgbClr val="A855F7">
                    <a:alpha val="40000"/>
                  </a:srgbClr>
                </a:solidFill>
                <a:custDash>
                  <a:ds d="333333" sp="666667"/>
                </a:custDash>
              </a:ln>
            </p:spPr>
          </p:sp>
          <p:sp>
            <p:nvSpPr>
              <p:cNvPr id="64" name="Ellipse 64"/>
              <p:cNvSpPr/>
              <p:nvPr/>
            </p:nvSpPr>
            <p:spPr>
              <a:xfrm>
                <a:off x="10015538" y="3281362"/>
                <a:ext cx="104775" cy="104775"/>
              </a:xfrm>
              <a:prstGeom prst="ellipse">
                <a:avLst/>
              </a:prstGeom>
              <a:solidFill>
                <a:srgbClr val="EC4899"/>
              </a:solidFill>
              <a:ln>
                <a:noFill/>
              </a:ln>
            </p:spPr>
          </p:sp>
          <p:sp>
            <p:nvSpPr>
              <p:cNvPr id="65" name="Ellipse 65"/>
              <p:cNvSpPr/>
              <p:nvPr/>
            </p:nvSpPr>
            <p:spPr>
              <a:xfrm>
                <a:off x="7834312" y="3290888"/>
                <a:ext cx="85725" cy="85725"/>
              </a:xfrm>
              <a:prstGeom prst="ellipse">
                <a:avLst/>
              </a:prstGeom>
              <a:solidFill>
                <a:srgbClr val="00F0FF"/>
              </a:solidFill>
              <a:ln>
                <a:noFill/>
              </a:ln>
            </p:spPr>
          </p:sp>
        </p:grpSp>
        <p:sp>
          <p:nvSpPr>
            <p:cNvPr id="67" name="Ellipse 67"/>
            <p:cNvSpPr/>
            <p:nvPr/>
          </p:nvSpPr>
          <p:spPr>
            <a:xfrm>
              <a:off x="8096250" y="2457450"/>
              <a:ext cx="1752600" cy="1752600"/>
            </a:xfrm>
            <a:prstGeom prst="ellipse">
              <a:avLst/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sp>
          <p:nvSpPr>
            <p:cNvPr id="68" name="Ellipse 68"/>
            <p:cNvSpPr/>
            <p:nvPr/>
          </p:nvSpPr>
          <p:spPr>
            <a:xfrm>
              <a:off x="8724900" y="2381250"/>
              <a:ext cx="495300" cy="495300"/>
            </a:xfrm>
            <a:prstGeom prst="ellipse">
              <a:avLst/>
            </a:prstGeom>
            <a:solidFill>
              <a:srgbClr val="132147"/>
            </a:solidFill>
            <a:ln w="23812">
              <a:solidFill>
                <a:srgbClr val="A855F7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900030" y="2520950"/>
              <a:ext cx="1450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۲</a:t>
              </a:r>
            </a:p>
          </p:txBody>
        </p:sp>
        <p:grpSp>
          <p:nvGrpSpPr>
            <p:cNvPr id="73" name="Group 73"/>
            <p:cNvGrpSpPr/>
            <p:nvPr/>
          </p:nvGrpSpPr>
          <p:grpSpPr>
            <a:xfrm>
              <a:off x="8814133" y="3181350"/>
              <a:ext cx="310817" cy="310817"/>
              <a:chOff x="8814133" y="3181350"/>
              <a:chExt cx="310817" cy="310817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8820150" y="3181350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0" y="171450"/>
                    </a:moveTo>
                    <a:cubicBezTo>
                      <a:pt x="69917" y="179759"/>
                      <a:pt x="125041" y="234883"/>
                      <a:pt x="133350" y="304800"/>
                    </a:cubicBezTo>
                    <a:cubicBezTo>
                      <a:pt x="167584" y="285064"/>
                      <a:pt x="189196" y="249044"/>
                      <a:pt x="190500" y="209550"/>
                    </a:cubicBezTo>
                    <a:cubicBezTo>
                      <a:pt x="255913" y="186539"/>
                      <a:pt x="301025" y="126390"/>
                      <a:pt x="304800" y="57150"/>
                    </a:cubicBezTo>
                    <a:cubicBezTo>
                      <a:pt x="304800" y="25587"/>
                      <a:pt x="279213" y="0"/>
                      <a:pt x="247650" y="0"/>
                    </a:cubicBezTo>
                    <a:cubicBezTo>
                      <a:pt x="178410" y="3775"/>
                      <a:pt x="118261" y="48887"/>
                      <a:pt x="95250" y="114300"/>
                    </a:cubicBezTo>
                    <a:cubicBezTo>
                      <a:pt x="55756" y="115604"/>
                      <a:pt x="19736" y="137216"/>
                      <a:pt x="0" y="1714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814133" y="3371850"/>
                <a:ext cx="120317" cy="120317"/>
              </a:xfrm>
              <a:custGeom>
                <a:avLst/>
                <a:gdLst/>
                <a:ahLst/>
                <a:cxnLst/>
                <a:rect l="l" t="t" r="r" b="b"/>
                <a:pathLst>
                  <a:path w="120317" h="120317">
                    <a:moveTo>
                      <a:pt x="63167" y="0"/>
                    </a:moveTo>
                    <a:cubicBezTo>
                      <a:pt x="22609" y="22898"/>
                      <a:pt x="0" y="68115"/>
                      <a:pt x="6017" y="114300"/>
                    </a:cubicBezTo>
                    <a:cubicBezTo>
                      <a:pt x="52202" y="120317"/>
                      <a:pt x="97420" y="97709"/>
                      <a:pt x="120317" y="571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9010650" y="32575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7976293" y="3657600"/>
              <a:ext cx="199251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8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آموزش و بهینه‌سازی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388100" y="4857750"/>
              <a:ext cx="5168900" cy="4095750"/>
            </a:xfrm>
            <a:prstGeom prst="roundRect">
              <a:avLst>
                <a:gd name="adj" fmla="val 7442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6673850" y="4857750"/>
              <a:ext cx="4597400" cy="38100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77" name="Ellipse 77"/>
            <p:cNvSpPr/>
            <p:nvPr/>
          </p:nvSpPr>
          <p:spPr>
            <a:xfrm>
              <a:off x="11090275" y="53244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388236" y="5251450"/>
              <a:ext cx="25473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تنظیم دقیق هایپرپارامترها</a:t>
              </a:r>
            </a:p>
          </p:txBody>
        </p:sp>
        <p:sp>
          <p:nvSpPr>
            <p:cNvPr id="79" name="Ellipse 79"/>
            <p:cNvSpPr/>
            <p:nvPr/>
          </p:nvSpPr>
          <p:spPr>
            <a:xfrm>
              <a:off x="11090275" y="57435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8123677" y="5670550"/>
              <a:ext cx="28119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آزمایش بر روی کلاسترهای GPU</a:t>
              </a:r>
            </a:p>
          </p:txBody>
        </p:sp>
        <p:sp>
          <p:nvSpPr>
            <p:cNvPr id="81" name="Ellipse 81"/>
            <p:cNvSpPr/>
            <p:nvPr/>
          </p:nvSpPr>
          <p:spPr>
            <a:xfrm>
              <a:off x="11090275" y="61626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8168401" y="6089650"/>
              <a:ext cx="27671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ارزیابی معیارهای دقت و اتلاف</a:t>
              </a:r>
            </a:p>
          </p:txBody>
        </p:sp>
      </p:grpSp>
      <p:grpSp>
        <p:nvGrpSpPr>
          <p:cNvPr id="106" name="step_node_3"/>
          <p:cNvGrpSpPr/>
          <p:nvPr/>
        </p:nvGrpSpPr>
        <p:grpSpPr>
          <a:xfrm>
            <a:off x="876300" y="2095500"/>
            <a:ext cx="5168900" cy="6858000"/>
            <a:chOff x="876300" y="2095500"/>
            <a:chExt cx="5168900" cy="6858000"/>
          </a:xfrm>
        </p:grpSpPr>
        <p:grpSp>
          <p:nvGrpSpPr>
            <p:cNvPr id="88" name="spin_step_orbit_3"/>
            <p:cNvGrpSpPr/>
            <p:nvPr/>
          </p:nvGrpSpPr>
          <p:grpSpPr>
            <a:xfrm>
              <a:off x="2222500" y="2095500"/>
              <a:ext cx="2476500" cy="2476500"/>
              <a:chOff x="2222500" y="2095500"/>
              <a:chExt cx="2476500" cy="2476500"/>
            </a:xfrm>
          </p:grpSpPr>
          <p:sp>
            <p:nvSpPr>
              <p:cNvPr id="84" name="Ellipse 84"/>
              <p:cNvSpPr/>
              <p:nvPr/>
            </p:nvSpPr>
            <p:spPr>
              <a:xfrm>
                <a:off x="2365375" y="2238375"/>
                <a:ext cx="2190750" cy="2190750"/>
              </a:xfrm>
              <a:prstGeom prst="ellipse">
                <a:avLst/>
              </a:prstGeom>
              <a:noFill/>
              <a:ln w="23812">
                <a:solidFill>
                  <a:srgbClr val="00F0FF">
                    <a:alpha val="60000"/>
                  </a:srgbClr>
                </a:solidFill>
                <a:custDash>
                  <a:ds d="320000" sp="240000"/>
                </a:custDash>
              </a:ln>
            </p:spPr>
          </p:sp>
          <p:sp>
            <p:nvSpPr>
              <p:cNvPr id="85" name="Ellipse 85"/>
              <p:cNvSpPr/>
              <p:nvPr/>
            </p:nvSpPr>
            <p:spPr>
              <a:xfrm>
                <a:off x="2222500" y="2095500"/>
                <a:ext cx="2476500" cy="2476500"/>
              </a:xfrm>
              <a:prstGeom prst="ellipse">
                <a:avLst/>
              </a:prstGeom>
              <a:noFill/>
              <a:ln w="11430">
                <a:solidFill>
                  <a:srgbClr val="A855F7">
                    <a:alpha val="40000"/>
                  </a:srgbClr>
                </a:solidFill>
                <a:custDash>
                  <a:ds d="333333" sp="666667"/>
                </a:custDash>
              </a:ln>
            </p:spPr>
          </p:sp>
          <p:sp>
            <p:nvSpPr>
              <p:cNvPr id="86" name="Ellipse 86"/>
              <p:cNvSpPr/>
              <p:nvPr/>
            </p:nvSpPr>
            <p:spPr>
              <a:xfrm>
                <a:off x="4503738" y="3281362"/>
                <a:ext cx="104775" cy="104775"/>
              </a:xfrm>
              <a:prstGeom prst="ellipse">
                <a:avLst/>
              </a:prstGeom>
              <a:solidFill>
                <a:srgbClr val="EC4899"/>
              </a:solidFill>
              <a:ln>
                <a:noFill/>
              </a:ln>
            </p:spPr>
          </p:sp>
          <p:sp>
            <p:nvSpPr>
              <p:cNvPr id="87" name="Ellipse 87"/>
              <p:cNvSpPr/>
              <p:nvPr/>
            </p:nvSpPr>
            <p:spPr>
              <a:xfrm>
                <a:off x="2322513" y="3290888"/>
                <a:ext cx="85725" cy="85725"/>
              </a:xfrm>
              <a:prstGeom prst="ellipse">
                <a:avLst/>
              </a:prstGeom>
              <a:solidFill>
                <a:srgbClr val="00F0FF"/>
              </a:solidFill>
              <a:ln>
                <a:noFill/>
              </a:ln>
            </p:spPr>
          </p:sp>
        </p:grpSp>
        <p:sp>
          <p:nvSpPr>
            <p:cNvPr id="89" name="Ellipse 89"/>
            <p:cNvSpPr/>
            <p:nvPr/>
          </p:nvSpPr>
          <p:spPr>
            <a:xfrm>
              <a:off x="2584450" y="2457450"/>
              <a:ext cx="1752600" cy="1752600"/>
            </a:xfrm>
            <a:prstGeom prst="ellipse">
              <a:avLst/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sp>
          <p:nvSpPr>
            <p:cNvPr id="90" name="Ellipse 90"/>
            <p:cNvSpPr/>
            <p:nvPr/>
          </p:nvSpPr>
          <p:spPr>
            <a:xfrm>
              <a:off x="3213100" y="2381250"/>
              <a:ext cx="495300" cy="495300"/>
            </a:xfrm>
            <a:prstGeom prst="ellipse">
              <a:avLst/>
            </a:prstGeom>
            <a:solidFill>
              <a:srgbClr val="132147"/>
            </a:solidFill>
            <a:ln w="23812">
              <a:solidFill>
                <a:srgbClr val="A855F7"/>
              </a:solidFill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3388230" y="2520950"/>
              <a:ext cx="1450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6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۳</a:t>
              </a:r>
            </a:p>
          </p:txBody>
        </p:sp>
        <p:grpSp>
          <p:nvGrpSpPr>
            <p:cNvPr id="96" name="Group 96"/>
            <p:cNvGrpSpPr/>
            <p:nvPr/>
          </p:nvGrpSpPr>
          <p:grpSpPr>
            <a:xfrm>
              <a:off x="3289300" y="3162300"/>
              <a:ext cx="342900" cy="342900"/>
              <a:chOff x="3289300" y="3162300"/>
              <a:chExt cx="342900" cy="342900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3289300" y="3162300"/>
                <a:ext cx="3429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342900">
                    <a:moveTo>
                      <a:pt x="0" y="171450"/>
                    </a:moveTo>
                    <a:cubicBezTo>
                      <a:pt x="0" y="266139"/>
                      <a:pt x="76761" y="342900"/>
                      <a:pt x="171450" y="342900"/>
                    </a:cubicBezTo>
                    <a:cubicBezTo>
                      <a:pt x="266139" y="342900"/>
                      <a:pt x="342900" y="266139"/>
                      <a:pt x="342900" y="171450"/>
                    </a:cubicBezTo>
                    <a:cubicBezTo>
                      <a:pt x="342900" y="76761"/>
                      <a:pt x="266139" y="0"/>
                      <a:pt x="171450" y="0"/>
                    </a:cubicBezTo>
                    <a:cubicBezTo>
                      <a:pt x="76761" y="0"/>
                      <a:pt x="0" y="76761"/>
                      <a:pt x="0" y="1714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93" name="Freeform 93"/>
              <p:cNvSpPr/>
              <p:nvPr/>
            </p:nvSpPr>
            <p:spPr>
              <a:xfrm>
                <a:off x="3441700" y="331470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3487611" y="3257550"/>
                <a:ext cx="49340" cy="49340"/>
              </a:xfrm>
              <a:custGeom>
                <a:avLst/>
                <a:gdLst/>
                <a:ahLst/>
                <a:cxnLst/>
                <a:rect l="l" t="t" r="r" b="b"/>
                <a:pathLst>
                  <a:path w="49340" h="49340">
                    <a:moveTo>
                      <a:pt x="0" y="49340"/>
                    </a:moveTo>
                    <a:lnTo>
                      <a:pt x="49340" y="0"/>
                    </a:ln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3365500" y="3238500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95250"/>
                    </a:moveTo>
                    <a:cubicBezTo>
                      <a:pt x="0" y="42645"/>
                      <a:pt x="42645" y="0"/>
                      <a:pt x="95250" y="0"/>
                    </a:cubicBezTo>
                  </a:path>
                </a:pathLst>
              </a:custGeom>
              <a:noFill/>
              <a:ln w="38100" cap="rnd">
                <a:solidFill>
                  <a:srgbClr val="A855F7"/>
                </a:solidFill>
                <a:round/>
              </a:ln>
            </p:spPr>
          </p:sp>
        </p:grpSp>
        <p:sp>
          <p:nvSpPr>
            <p:cNvPr id="97" name="TextBox 97"/>
            <p:cNvSpPr txBox="1"/>
            <p:nvPr/>
          </p:nvSpPr>
          <p:spPr>
            <a:xfrm>
              <a:off x="2369576" y="3657600"/>
              <a:ext cx="21823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58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پایش و پایش بلادرنگ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876300" y="4857750"/>
              <a:ext cx="5168900" cy="4095750"/>
            </a:xfrm>
            <a:prstGeom prst="roundRect">
              <a:avLst>
                <a:gd name="adj" fmla="val 7442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sp>
          <p:nvSpPr>
            <p:cNvPr id="99" name="Rectangle 99"/>
            <p:cNvSpPr/>
            <p:nvPr/>
          </p:nvSpPr>
          <p:spPr>
            <a:xfrm>
              <a:off x="1162050" y="4857750"/>
              <a:ext cx="4597400" cy="38100"/>
            </a:xfrm>
            <a:prstGeom prst="roundRect">
              <a:avLst>
                <a:gd name="adj" fmla="val 50000"/>
              </a:avLst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0" name="Ellipse 100"/>
            <p:cNvSpPr/>
            <p:nvPr/>
          </p:nvSpPr>
          <p:spPr>
            <a:xfrm>
              <a:off x="5578475" y="53244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3029364" y="5251450"/>
              <a:ext cx="23944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پایش مداوم شاخص‌های تاخیر</a:t>
              </a:r>
            </a:p>
          </p:txBody>
        </p:sp>
        <p:sp>
          <p:nvSpPr>
            <p:cNvPr id="102" name="Ellipse 102"/>
            <p:cNvSpPr/>
            <p:nvPr/>
          </p:nvSpPr>
          <p:spPr>
            <a:xfrm>
              <a:off x="5578475" y="57435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3086712" y="5670550"/>
              <a:ext cx="23370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به‌روزرسانی خودکار مدل‌ها</a:t>
              </a:r>
            </a:p>
          </p:txBody>
        </p:sp>
        <p:sp>
          <p:nvSpPr>
            <p:cNvPr id="104" name="Ellipse 104"/>
            <p:cNvSpPr/>
            <p:nvPr/>
          </p:nvSpPr>
          <p:spPr>
            <a:xfrm>
              <a:off x="5578475" y="6162675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2924226" y="6089650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42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پاسخگویی با پایداری ۹۹.۹٪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10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7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24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650"/>
                            </p:stCondLst>
                            <p:childTnLst>
                              <p:par>
                                <p:cTn xmlns:p="http://schemas.openxmlformats.org/presentationml/2006/main" id="29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400"/>
                            </p:stCondLst>
                            <p:childTnLst>
                              <p:par>
                                <p:cTn xmlns:p="http://schemas.openxmlformats.org/presentationml/2006/main" id="34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4953000"/>
            <a:ext cx="18288000" cy="5334000"/>
            <a:chOff x="0" y="4953000"/>
            <a:chExt cx="18288000" cy="5334000"/>
          </a:xfrm>
        </p:grpSpPr>
        <p:sp>
          <p:nvSpPr>
            <p:cNvPr id="2" name="Freeform 2"/>
            <p:cNvSpPr/>
            <p:nvPr/>
          </p:nvSpPr>
          <p:spPr>
            <a:xfrm>
              <a:off x="0" y="4953000"/>
              <a:ext cx="18288000" cy="5334000"/>
            </a:xfrm>
            <a:custGeom>
              <a:avLst/>
              <a:gdLst/>
              <a:ahLst/>
              <a:cxnLst/>
              <a:rect l="l" t="t" r="r" b="b"/>
              <a:pathLst>
                <a:path w="18288000" h="5334000">
                  <a:moveTo>
                    <a:pt x="0" y="1333500"/>
                  </a:moveTo>
                  <a:cubicBezTo>
                    <a:pt x="3556000" y="2349500"/>
                    <a:pt x="7048500" y="2286000"/>
                    <a:pt x="10477500" y="1143000"/>
                  </a:cubicBezTo>
                  <a:cubicBezTo>
                    <a:pt x="13906500" y="0"/>
                    <a:pt x="16510000" y="317500"/>
                    <a:pt x="18288000" y="2095500"/>
                  </a:cubicBezTo>
                  <a:lnTo>
                    <a:pt x="18288000" y="5334000"/>
                  </a:lnTo>
                  <a:lnTo>
                    <a:pt x="0" y="5334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6540500"/>
              <a:ext cx="18288000" cy="3746500"/>
            </a:xfrm>
            <a:custGeom>
              <a:avLst/>
              <a:gdLst/>
              <a:ahLst/>
              <a:cxnLst/>
              <a:rect l="l" t="t" r="r" b="b"/>
              <a:pathLst>
                <a:path w="18288000" h="3746500">
                  <a:moveTo>
                    <a:pt x="0" y="1079500"/>
                  </a:moveTo>
                  <a:cubicBezTo>
                    <a:pt x="2794000" y="1841500"/>
                    <a:pt x="6032500" y="1778000"/>
                    <a:pt x="9715500" y="889000"/>
                  </a:cubicBezTo>
                  <a:cubicBezTo>
                    <a:pt x="13398500" y="0"/>
                    <a:pt x="16256000" y="254000"/>
                    <a:pt x="18288000" y="1651000"/>
                  </a:cubicBezTo>
                  <a:lnTo>
                    <a:pt x="18288000" y="3746500"/>
                  </a:lnTo>
                  <a:lnTo>
                    <a:pt x="0" y="37465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4953000"/>
              <a:ext cx="18288000" cy="2349500"/>
            </a:xfrm>
            <a:custGeom>
              <a:avLst/>
              <a:gdLst/>
              <a:ahLst/>
              <a:cxnLst/>
              <a:rect l="l" t="t" r="r" b="b"/>
              <a:pathLst>
                <a:path w="18288000" h="2349500">
                  <a:moveTo>
                    <a:pt x="0" y="1333500"/>
                  </a:moveTo>
                  <a:cubicBezTo>
                    <a:pt x="3556000" y="2349500"/>
                    <a:pt x="7048500" y="2286000"/>
                    <a:pt x="10477500" y="1143000"/>
                  </a:cubicBezTo>
                  <a:cubicBezTo>
                    <a:pt x="13906500" y="0"/>
                    <a:pt x="16510000" y="317500"/>
                    <a:pt x="18288000" y="2095500"/>
                  </a:cubicBezTo>
                </a:path>
              </a:pathLst>
            </a:custGeom>
            <a:noFill/>
            <a:ln w="28575">
              <a:solidFill>
                <a:srgbClr val="A855F7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7" name="header_group"/>
          <p:cNvGrpSpPr/>
          <p:nvPr/>
        </p:nvGrpSpPr>
        <p:grpSpPr>
          <a:xfrm>
            <a:off x="9086667" y="822325"/>
            <a:ext cx="8076621" cy="1008888"/>
            <a:chOff x="9086667" y="822325"/>
            <a:chExt cx="8076621" cy="1008888"/>
          </a:xfrm>
        </p:grpSpPr>
        <p:sp>
          <p:nvSpPr>
            <p:cNvPr id="35" name="TextBox 35"/>
            <p:cNvSpPr txBox="1"/>
            <p:nvPr/>
          </p:nvSpPr>
          <p:spPr>
            <a:xfrm>
              <a:off x="14730879" y="822325"/>
              <a:ext cx="24217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تاثیر و بازدهی عملیاتی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086667" y="1127125"/>
              <a:ext cx="807662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جهش شاخص‌های کلیدی پس از استقرار</a:t>
              </a:r>
            </a:p>
          </p:txBody>
        </p:sp>
      </p:grpSp>
      <p:grpSp>
        <p:nvGrpSpPr>
          <p:cNvPr id="41" name="kpi_image"/>
          <p:cNvGrpSpPr/>
          <p:nvPr/>
        </p:nvGrpSpPr>
        <p:grpSpPr>
          <a:xfrm>
            <a:off x="990600" y="2133600"/>
            <a:ext cx="6591300" cy="6781800"/>
            <a:chOff x="990600" y="2133600"/>
            <a:chExt cx="6591300" cy="6781800"/>
          </a:xfrm>
        </p:grpSpPr>
        <p:sp>
          <p:nvSpPr>
            <p:cNvPr id="38" name="Rectangle 38"/>
            <p:cNvSpPr/>
            <p:nvPr/>
          </p:nvSpPr>
          <p:spPr>
            <a:xfrm>
              <a:off x="990600" y="2133600"/>
              <a:ext cx="6591300" cy="6781800"/>
            </a:xfrm>
            <a:prstGeom prst="roundRect">
              <a:avLst>
                <a:gd name="adj" fmla="val 5202"/>
              </a:avLst>
            </a:prstGeom>
            <a:noFill/>
            <a:ln w="19050">
              <a:solidFill>
                <a:srgbClr val="00F0FF">
                  <a:alpha val="35000"/>
                </a:srgbClr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47750" y="2190750"/>
              <a:ext cx="6477000" cy="6667500"/>
            </a:xfrm>
            <a:prstGeom prst="roundRect">
              <a:avLst>
                <a:gd name="adj" fmla="val 4706"/>
              </a:avLst>
            </a:prstGeom>
            <a:solidFill>
              <a:srgbClr val="10182F"/>
            </a:solidFill>
            <a:ln w="23812">
              <a:solidFill>
                <a:srgbClr val="00F0FF"/>
              </a:solidFill>
            </a:ln>
          </p:spPr>
        </p:sp>
        <p:pic>
          <p:nvPicPr>
            <p:cNvPr id="40" name="Image 40"/>
            <p:cNvPicPr>
              <a:picLocks noChangeAspect="1"/>
            </p:cNvPicPr>
            <p:nvPr/>
          </p:nvPicPr>
          <p:blipFill>
            <a:blip r:embed="rId2"/>
            <a:srcRect l="13110" t="0" r="13110" b="0"/>
            <a:stretch>
              <a:fillRect/>
            </a:stretch>
          </p:blipFill>
          <p:spPr>
            <a:xfrm>
              <a:off x="1143000" y="2286000"/>
              <a:ext cx="6286500" cy="6477000"/>
            </a:xfrm>
            <a:prstGeom prst="rect">
              <a:avLst/>
            </a:prstGeom>
          </p:spPr>
        </p:pic>
      </p:grpSp>
      <p:grpSp>
        <p:nvGrpSpPr>
          <p:cNvPr id="53" name="kpi_1"/>
          <p:cNvGrpSpPr/>
          <p:nvPr/>
        </p:nvGrpSpPr>
        <p:grpSpPr>
          <a:xfrm>
            <a:off x="8001000" y="2190750"/>
            <a:ext cx="9239250" cy="3181350"/>
            <a:chOff x="8001000" y="2190750"/>
            <a:chExt cx="9239250" cy="3181350"/>
          </a:xfrm>
        </p:grpSpPr>
        <p:sp>
          <p:nvSpPr>
            <p:cNvPr id="42" name="Rectangle 42"/>
            <p:cNvSpPr/>
            <p:nvPr/>
          </p:nvSpPr>
          <p:spPr>
            <a:xfrm>
              <a:off x="8001000" y="2190750"/>
              <a:ext cx="9239250" cy="3181350"/>
            </a:xfrm>
            <a:prstGeom prst="roundRect">
              <a:avLst>
                <a:gd name="adj" fmla="val 9581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grpSp>
          <p:nvGrpSpPr>
            <p:cNvPr id="46" name="spin_kpi_dial_1"/>
            <p:cNvGrpSpPr/>
            <p:nvPr/>
          </p:nvGrpSpPr>
          <p:grpSpPr>
            <a:xfrm>
              <a:off x="15449550" y="3038475"/>
              <a:ext cx="1524000" cy="1485900"/>
              <a:chOff x="15449550" y="3038475"/>
              <a:chExt cx="1524000" cy="1485900"/>
            </a:xfrm>
          </p:grpSpPr>
          <p:sp>
            <p:nvSpPr>
              <p:cNvPr id="43" name="Ellipse 43"/>
              <p:cNvSpPr/>
              <p:nvPr/>
            </p:nvSpPr>
            <p:spPr>
              <a:xfrm>
                <a:off x="15449550" y="3038475"/>
                <a:ext cx="1485900" cy="1485900"/>
              </a:xfrm>
              <a:prstGeom prst="ellipse">
                <a:avLst/>
              </a:prstGeom>
              <a:noFill/>
              <a:ln w="17145">
                <a:solidFill>
                  <a:srgbClr val="A855F7">
                    <a:alpha val="50000"/>
                  </a:srgbClr>
                </a:solidFill>
                <a:custDash>
                  <a:ds d="222222" sp="333333"/>
                </a:custDash>
              </a:ln>
            </p:spPr>
          </p:sp>
          <p:sp>
            <p:nvSpPr>
              <p:cNvPr id="44" name="Ellipse 44"/>
              <p:cNvSpPr/>
              <p:nvPr/>
            </p:nvSpPr>
            <p:spPr>
              <a:xfrm>
                <a:off x="15582900" y="3171825"/>
                <a:ext cx="1219200" cy="1219200"/>
              </a:xfrm>
              <a:prstGeom prst="ellipse">
                <a:avLst/>
              </a:prstGeom>
              <a:noFill/>
              <a:ln w="57150" cap="rnd">
                <a:solidFill>
                  <a:srgbClr val="00F0FF"/>
                </a:solidFill>
                <a:custDash>
                  <a:ds d="4333333" sp="2333333"/>
                </a:custDash>
              </a:ln>
            </p:spPr>
          </p:sp>
          <p:sp>
            <p:nvSpPr>
              <p:cNvPr id="45" name="Ellipse 45"/>
              <p:cNvSpPr/>
              <p:nvPr/>
            </p:nvSpPr>
            <p:spPr>
              <a:xfrm>
                <a:off x="16897350" y="3743325"/>
                <a:ext cx="76200" cy="76200"/>
              </a:xfrm>
              <a:prstGeom prst="ellipse">
                <a:avLst/>
              </a:prstGeom>
              <a:solidFill>
                <a:srgbClr val="EC4899"/>
              </a:solidFill>
              <a:ln>
                <a:noFill/>
              </a:ln>
            </p:spPr>
          </p:sp>
        </p:grpSp>
        <p:sp>
          <p:nvSpPr>
            <p:cNvPr id="47" name="Ellipse 47"/>
            <p:cNvSpPr/>
            <p:nvPr/>
          </p:nvSpPr>
          <p:spPr>
            <a:xfrm>
              <a:off x="15678150" y="3267075"/>
              <a:ext cx="1028700" cy="1028700"/>
            </a:xfrm>
            <a:prstGeom prst="ellipse">
              <a:avLst/>
            </a:prstGeom>
            <a:solidFill>
              <a:srgbClr val="132147"/>
            </a:solidFill>
            <a:ln w="19050">
              <a:solidFill>
                <a:srgbClr val="00F0FF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5783056" y="3590925"/>
              <a:ext cx="8188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25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+۸۵٪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758782" y="2555875"/>
              <a:ext cx="330138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افزایش سرعت تصمیم‌گیری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86428" y="3108325"/>
              <a:ext cx="4770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کاهش چشمگیر زمان تحلیل داده‌های بالینی و مهندسی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382000" y="2619375"/>
              <a:ext cx="1524000" cy="381000"/>
            </a:xfrm>
            <a:prstGeom prst="roundRect">
              <a:avLst>
                <a:gd name="adj" fmla="val 50000"/>
              </a:avLst>
            </a:prstGeom>
            <a:solidFill>
              <a:srgbClr val="132147"/>
            </a:solidFill>
            <a:ln w="14288">
              <a:solidFill>
                <a:srgbClr val="EC4899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573914" y="2714625"/>
              <a:ext cx="11401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200" b="1" dirty="0">
                  <a:solidFill>
                    <a:srgbClr val="EC4899"/>
                  </a:solidFill>
                  <a:latin typeface="Yekan Bakh"/>
                  <a:ea typeface="Yekan Bakh"/>
                  <a:cs typeface="Yekan Bakh"/>
                  <a:rtl val="1"/>
                </a:rPr>
                <a:t>↑ رشد بهره‌وری</a:t>
              </a:r>
            </a:p>
          </p:txBody>
        </p:sp>
      </p:grpSp>
      <p:grpSp>
        <p:nvGrpSpPr>
          <p:cNvPr id="65" name="kpi_2"/>
          <p:cNvGrpSpPr/>
          <p:nvPr/>
        </p:nvGrpSpPr>
        <p:grpSpPr>
          <a:xfrm>
            <a:off x="8001000" y="5676900"/>
            <a:ext cx="9239250" cy="3181350"/>
            <a:chOff x="8001000" y="5676900"/>
            <a:chExt cx="9239250" cy="3181350"/>
          </a:xfrm>
        </p:grpSpPr>
        <p:sp>
          <p:nvSpPr>
            <p:cNvPr id="54" name="Rectangle 54"/>
            <p:cNvSpPr/>
            <p:nvPr/>
          </p:nvSpPr>
          <p:spPr>
            <a:xfrm>
              <a:off x="8001000" y="5676900"/>
              <a:ext cx="9239250" cy="3181350"/>
            </a:xfrm>
            <a:prstGeom prst="roundRect">
              <a:avLst>
                <a:gd name="adj" fmla="val 9581"/>
              </a:avLst>
            </a:prstGeom>
            <a:solidFill>
              <a:srgbClr val="10182F"/>
            </a:solidFill>
            <a:ln w="19050">
              <a:solidFill>
                <a:srgbClr val="2563EB"/>
              </a:solidFill>
            </a:ln>
          </p:spPr>
        </p:sp>
        <p:grpSp>
          <p:nvGrpSpPr>
            <p:cNvPr id="58" name="spin_kpi_dial_2"/>
            <p:cNvGrpSpPr/>
            <p:nvPr/>
          </p:nvGrpSpPr>
          <p:grpSpPr>
            <a:xfrm>
              <a:off x="15449550" y="6524625"/>
              <a:ext cx="1524000" cy="1485900"/>
              <a:chOff x="15449550" y="6524625"/>
              <a:chExt cx="1524000" cy="1485900"/>
            </a:xfrm>
          </p:grpSpPr>
          <p:sp>
            <p:nvSpPr>
              <p:cNvPr id="55" name="Ellipse 55"/>
              <p:cNvSpPr/>
              <p:nvPr/>
            </p:nvSpPr>
            <p:spPr>
              <a:xfrm>
                <a:off x="15449550" y="6524625"/>
                <a:ext cx="1485900" cy="1485900"/>
              </a:xfrm>
              <a:prstGeom prst="ellipse">
                <a:avLst/>
              </a:prstGeom>
              <a:noFill/>
              <a:ln w="17145">
                <a:solidFill>
                  <a:srgbClr val="A855F7">
                    <a:alpha val="50000"/>
                  </a:srgbClr>
                </a:solidFill>
                <a:custDash>
                  <a:ds d="222222" sp="333333"/>
                </a:custDash>
              </a:ln>
            </p:spPr>
          </p:sp>
          <p:sp>
            <p:nvSpPr>
              <p:cNvPr id="56" name="Ellipse 56"/>
              <p:cNvSpPr/>
              <p:nvPr/>
            </p:nvSpPr>
            <p:spPr>
              <a:xfrm>
                <a:off x="15582900" y="6657975"/>
                <a:ext cx="1219200" cy="1219200"/>
              </a:xfrm>
              <a:prstGeom prst="ellipse">
                <a:avLst/>
              </a:prstGeom>
              <a:noFill/>
              <a:ln w="57150" cap="rnd">
                <a:solidFill>
                  <a:srgbClr val="00F0FF"/>
                </a:solidFill>
                <a:custDash>
                  <a:ds d="4333333" sp="2333333"/>
                </a:custDash>
              </a:ln>
            </p:spPr>
          </p:sp>
          <p:sp>
            <p:nvSpPr>
              <p:cNvPr id="57" name="Ellipse 57"/>
              <p:cNvSpPr/>
              <p:nvPr/>
            </p:nvSpPr>
            <p:spPr>
              <a:xfrm>
                <a:off x="16897350" y="7229475"/>
                <a:ext cx="76200" cy="76200"/>
              </a:xfrm>
              <a:prstGeom prst="ellipse">
                <a:avLst/>
              </a:prstGeom>
              <a:solidFill>
                <a:srgbClr val="EC4899"/>
              </a:solidFill>
              <a:ln>
                <a:noFill/>
              </a:ln>
            </p:spPr>
          </p:sp>
        </p:grpSp>
        <p:sp>
          <p:nvSpPr>
            <p:cNvPr id="59" name="Ellipse 59"/>
            <p:cNvSpPr/>
            <p:nvPr/>
          </p:nvSpPr>
          <p:spPr>
            <a:xfrm>
              <a:off x="15678150" y="6753225"/>
              <a:ext cx="1028700" cy="1028700"/>
            </a:xfrm>
            <a:prstGeom prst="ellipse">
              <a:avLst/>
            </a:prstGeom>
            <a:solidFill>
              <a:srgbClr val="132147"/>
            </a:solidFill>
            <a:ln w="19050">
              <a:solidFill>
                <a:srgbClr val="00F0FF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5783056" y="7077075"/>
              <a:ext cx="8188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fa" sz="25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۴.۲x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432261" y="6042025"/>
              <a:ext cx="362790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21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ارزش‌آفرینی تجاری مستقیم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286428" y="6594475"/>
              <a:ext cx="4770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کاهش ۶۰ درصدی هزینه‌های عملیاتی و خطاهای داده‌ای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8382000" y="6105525"/>
              <a:ext cx="1524000" cy="381000"/>
            </a:xfrm>
            <a:prstGeom prst="roundRect">
              <a:avLst>
                <a:gd name="adj" fmla="val 50000"/>
              </a:avLst>
            </a:prstGeom>
            <a:solidFill>
              <a:srgbClr val="132147"/>
            </a:solidFill>
            <a:ln w="14288">
              <a:solidFill>
                <a:srgbClr val="EC4899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421014" y="6200775"/>
              <a:ext cx="14459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 rtl="1"/>
              <a:r>
                <a:rPr lang="fa" sz="1200" b="1" dirty="0">
                  <a:solidFill>
                    <a:srgbClr val="EC4899"/>
                  </a:solidFill>
                  <a:latin typeface="Yekan Bakh"/>
                  <a:ea typeface="Yekan Bakh"/>
                  <a:cs typeface="Yekan Bakh"/>
                  <a:rtl val="1"/>
                </a:rPr>
                <a:t>↑ نرخ بازگشت ROI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9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6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23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650"/>
                            </p:stCondLst>
                            <p:childTnLst>
                              <p:par>
                                <p:cTn xmlns:p="http://schemas.openxmlformats.org/presentationml/2006/main" id="28" presetID="9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400"/>
                            </p:stCondLst>
                            <p:childTnLst>
                              <p:par>
                                <p:cTn xmlns:p="http://schemas.openxmlformats.org/presentationml/2006/main" id="32" presetID="6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ambient_waves"/>
          <p:cNvGrpSpPr/>
          <p:nvPr/>
        </p:nvGrpSpPr>
        <p:grpSpPr>
          <a:xfrm>
            <a:off x="0" y="5969000"/>
            <a:ext cx="18288000" cy="4318000"/>
            <a:chOff x="0" y="5969000"/>
            <a:chExt cx="18288000" cy="4318000"/>
          </a:xfrm>
        </p:grpSpPr>
        <p:sp>
          <p:nvSpPr>
            <p:cNvPr id="2" name="Freeform 2"/>
            <p:cNvSpPr/>
            <p:nvPr/>
          </p:nvSpPr>
          <p:spPr>
            <a:xfrm>
              <a:off x="0" y="5969000"/>
              <a:ext cx="18288000" cy="4318000"/>
            </a:xfrm>
            <a:custGeom>
              <a:avLst/>
              <a:gdLst/>
              <a:ahLst/>
              <a:cxnLst/>
              <a:rect l="l" t="t" r="r" b="b"/>
              <a:pathLst>
                <a:path w="18288000" h="4318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  <a:lnTo>
                    <a:pt x="18288000" y="4318000"/>
                  </a:lnTo>
                  <a:lnTo>
                    <a:pt x="0" y="4318000"/>
                  </a:lnTo>
                  <a:close/>
                </a:path>
              </a:pathLst>
            </a:custGeom>
            <a:solidFill>
              <a:srgbClr val="0E1E45">
                <a:alpha val="60000"/>
              </a:srgbClr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0" y="7366000"/>
              <a:ext cx="18288000" cy="2921000"/>
            </a:xfrm>
            <a:custGeom>
              <a:avLst/>
              <a:gdLst/>
              <a:ahLst/>
              <a:cxnLst/>
              <a:rect l="l" t="t" r="r" b="b"/>
              <a:pathLst>
                <a:path w="18288000" h="2921000">
                  <a:moveTo>
                    <a:pt x="0" y="635000"/>
                  </a:moveTo>
                  <a:cubicBezTo>
                    <a:pt x="3302000" y="0"/>
                    <a:pt x="6731000" y="190500"/>
                    <a:pt x="10287000" y="1206500"/>
                  </a:cubicBezTo>
                  <a:cubicBezTo>
                    <a:pt x="13843000" y="2222500"/>
                    <a:pt x="16510000" y="1968500"/>
                    <a:pt x="18288000" y="444500"/>
                  </a:cubicBezTo>
                  <a:lnTo>
                    <a:pt x="182880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1E1B4B">
                <a:alpha val="85000"/>
              </a:srgbClr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5969000"/>
              <a:ext cx="18288000" cy="2413000"/>
            </a:xfrm>
            <a:custGeom>
              <a:avLst/>
              <a:gdLst/>
              <a:ahLst/>
              <a:cxnLst/>
              <a:rect l="l" t="t" r="r" b="b"/>
              <a:pathLst>
                <a:path w="18288000" h="2413000">
                  <a:moveTo>
                    <a:pt x="0" y="889000"/>
                  </a:moveTo>
                  <a:cubicBezTo>
                    <a:pt x="3048000" y="0"/>
                    <a:pt x="6096000" y="127000"/>
                    <a:pt x="9144000" y="1270000"/>
                  </a:cubicBezTo>
                  <a:cubicBezTo>
                    <a:pt x="12192000" y="2413000"/>
                    <a:pt x="15240000" y="2159000"/>
                    <a:pt x="18288000" y="508000"/>
                  </a:cubicBezTo>
                </a:path>
              </a:pathLst>
            </a:custGeom>
            <a:noFill/>
            <a:ln w="28575">
              <a:solidFill>
                <a:srgbClr val="00F0FF">
                  <a:alpha val="45000"/>
                </a:srgbClr>
              </a:solidFill>
            </a:ln>
          </p:spPr>
        </p:sp>
      </p:grpSp>
      <p:grpSp>
        <p:nvGrpSpPr>
          <p:cNvPr id="17" name="spin_orbit_rings"/>
          <p:cNvGrpSpPr/>
          <p:nvPr/>
        </p:nvGrpSpPr>
        <p:grpSpPr>
          <a:xfrm>
            <a:off x="13716000" y="5524500"/>
            <a:ext cx="7239000" cy="7298055"/>
            <a:chOff x="13716000" y="5524500"/>
            <a:chExt cx="7239000" cy="7298055"/>
          </a:xfrm>
        </p:grpSpPr>
        <p:sp>
          <p:nvSpPr>
            <p:cNvPr id="6" name="Ellipse 6"/>
            <p:cNvSpPr/>
            <p:nvPr/>
          </p:nvSpPr>
          <p:spPr>
            <a:xfrm>
              <a:off x="14859000" y="6667500"/>
              <a:ext cx="4953000" cy="4953000"/>
            </a:xfrm>
            <a:prstGeom prst="ellipse">
              <a:avLst/>
            </a:prstGeom>
            <a:noFill/>
            <a:ln w="23812">
              <a:solidFill>
                <a:srgbClr val="00F0FF">
                  <a:alpha val="30000"/>
                </a:srgbClr>
              </a:solidFill>
              <a:custDash>
                <a:ds d="560000" sp="400000"/>
              </a:custDash>
            </a:ln>
          </p:spPr>
        </p:sp>
        <p:sp>
          <p:nvSpPr>
            <p:cNvPr id="7" name="Ellipse 7"/>
            <p:cNvSpPr/>
            <p:nvPr/>
          </p:nvSpPr>
          <p:spPr>
            <a:xfrm>
              <a:off x="15621000" y="7429500"/>
              <a:ext cx="3429000" cy="3429000"/>
            </a:xfrm>
            <a:prstGeom prst="ellipse">
              <a:avLst/>
            </a:prstGeom>
            <a:noFill/>
            <a:ln w="19050">
              <a:solidFill>
                <a:srgbClr val="A855F7">
                  <a:alpha val="35000"/>
                </a:srgbClr>
              </a:solidFill>
              <a:custDash>
                <a:ds d="400000" sp="300000"/>
              </a:custDash>
            </a:ln>
          </p:spPr>
        </p:sp>
        <p:sp>
          <p:nvSpPr>
            <p:cNvPr id="8" name="Ellipse 8"/>
            <p:cNvSpPr/>
            <p:nvPr/>
          </p:nvSpPr>
          <p:spPr>
            <a:xfrm>
              <a:off x="13716000" y="5524500"/>
              <a:ext cx="7239000" cy="7239000"/>
            </a:xfrm>
            <a:prstGeom prst="ellipse">
              <a:avLst/>
            </a:prstGeom>
            <a:noFill/>
            <a:ln w="11430">
              <a:solidFill>
                <a:srgbClr val="EC4899">
                  <a:alpha val="20000"/>
                </a:srgbClr>
              </a:solidFill>
              <a:custDash>
                <a:ds d="500000" sp="1166667"/>
              </a:custDash>
            </a:ln>
          </p:spPr>
        </p:sp>
        <p:sp>
          <p:nvSpPr>
            <p:cNvPr id="9" name="Ellipse 9"/>
            <p:cNvSpPr/>
            <p:nvPr/>
          </p:nvSpPr>
          <p:spPr>
            <a:xfrm>
              <a:off x="19307175" y="10507028"/>
              <a:ext cx="114300" cy="11430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259550" y="10459402"/>
              <a:ext cx="209550" cy="20955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5259050" y="10516552"/>
              <a:ext cx="95250" cy="9525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5211425" y="10468928"/>
              <a:ext cx="190500" cy="190500"/>
            </a:xfrm>
            <a:prstGeom prst="ellipse">
              <a:avLst/>
            </a:prstGeom>
            <a:noFill/>
            <a:ln w="14288">
              <a:solidFill>
                <a:srgbClr val="A855F7">
                  <a:alpha val="40000"/>
                </a:srgbClr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16984980" y="7402830"/>
              <a:ext cx="104775" cy="104775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6937355" y="7355205"/>
              <a:ext cx="200025" cy="200025"/>
            </a:xfrm>
            <a:prstGeom prst="ellipse">
              <a:avLst/>
            </a:prstGeom>
            <a:noFill/>
            <a:ln w="14288">
              <a:solidFill>
                <a:srgbClr val="EC4899">
                  <a:alpha val="40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7897475" y="12641580"/>
              <a:ext cx="133350" cy="1333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17849850" y="12593955"/>
              <a:ext cx="228600" cy="228600"/>
            </a:xfrm>
            <a:prstGeom prst="ellipse">
              <a:avLst/>
            </a:prstGeom>
            <a:noFill/>
            <a:ln w="14288">
              <a:solidFill>
                <a:srgbClr val="00F0FF">
                  <a:alpha val="40000"/>
                </a:srgbClr>
              </a:solidFill>
            </a:ln>
          </p:spPr>
        </p:sp>
      </p:grpSp>
      <p:grpSp>
        <p:nvGrpSpPr>
          <p:cNvPr id="34" name="spin_particle_cluster"/>
          <p:cNvGrpSpPr/>
          <p:nvPr/>
        </p:nvGrpSpPr>
        <p:grpSpPr>
          <a:xfrm>
            <a:off x="0" y="0"/>
            <a:ext cx="18288000" cy="8879205"/>
            <a:chOff x="0" y="0"/>
            <a:chExt cx="18288000" cy="8879205"/>
          </a:xfrm>
        </p:grpSpPr>
        <p:sp>
          <p:nvSpPr>
            <p:cNvPr id="18" name="Ellipse 18"/>
            <p:cNvSpPr/>
            <p:nvPr/>
          </p:nvSpPr>
          <p:spPr>
            <a:xfrm>
              <a:off x="1104900" y="723900"/>
              <a:ext cx="76200" cy="76200"/>
            </a:xfrm>
            <a:prstGeom prst="ellipse">
              <a:avLst/>
            </a:prstGeom>
            <a:solidFill>
              <a:srgbClr val="00F0FF">
                <a:alpha val="60000"/>
              </a:srgbClr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690688" y="1214438"/>
              <a:ext cx="47625" cy="47625"/>
            </a:xfrm>
            <a:prstGeom prst="ellipse">
              <a:avLst/>
            </a:prstGeom>
            <a:solidFill>
              <a:srgbClr val="EC4899">
                <a:alpha val="40000"/>
              </a:srgbClr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33412" y="1585912"/>
              <a:ext cx="66675" cy="66675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981200" y="69532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2338388" y="1481138"/>
              <a:ext cx="85725" cy="85725"/>
            </a:xfrm>
            <a:prstGeom prst="ellipse">
              <a:avLst/>
            </a:prstGeom>
            <a:solidFill>
              <a:srgbClr val="00F0FF">
                <a:alpha val="70000"/>
              </a:srgbClr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57175" y="1066800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52562" y="2071688"/>
              <a:ext cx="47625" cy="47625"/>
            </a:xfrm>
            <a:prstGeom prst="ellipse">
              <a:avLst/>
            </a:prstGeom>
            <a:solidFill>
              <a:srgbClr val="EC4899">
                <a:alpha val="35000"/>
              </a:srgbClr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81025" y="2343150"/>
              <a:ext cx="76200" cy="76200"/>
            </a:xfrm>
            <a:prstGeom prst="ellipse">
              <a:avLst/>
            </a:prstGeom>
            <a:solidFill>
              <a:srgbClr val="00F0FF">
                <a:alpha val="55000"/>
              </a:srgbClr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9115425" y="542925"/>
              <a:ext cx="57150" cy="57150"/>
            </a:xfrm>
            <a:prstGeom prst="ellipse">
              <a:avLst/>
            </a:prstGeom>
            <a:solidFill>
              <a:srgbClr val="A855F7">
                <a:alpha val="40000"/>
              </a:srgbClr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8648700" y="981075"/>
              <a:ext cx="38100" cy="3810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582150" y="866775"/>
              <a:ext cx="76200" cy="7620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52662" y="8348662"/>
              <a:ext cx="66675" cy="66675"/>
            </a:xfrm>
            <a:prstGeom prst="ellipse">
              <a:avLst/>
            </a:prstGeom>
            <a:solidFill>
              <a:srgbClr val="00F0FF">
                <a:alpha val="45000"/>
              </a:srgbClr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2931795" y="8837295"/>
              <a:ext cx="41910" cy="41910"/>
            </a:xfrm>
            <a:prstGeom prst="ellipse">
              <a:avLst/>
            </a:prstGeom>
            <a:solidFill>
              <a:srgbClr val="EC4899">
                <a:alpha val="30000"/>
              </a:srgbClr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15965805" y="8250555"/>
              <a:ext cx="72390" cy="72390"/>
            </a:xfrm>
            <a:prstGeom prst="ellipse">
              <a:avLst/>
            </a:prstGeom>
            <a:solidFill>
              <a:srgbClr val="00F0FF">
                <a:alpha val="50000"/>
              </a:srgbClr>
            </a:solidFill>
            <a:ln>
              <a:noFill/>
            </a:ln>
          </p:spPr>
        </p:sp>
        <p:sp>
          <p:nvSpPr>
            <p:cNvPr id="32" name="Polygon 32"/>
            <p:cNvSpPr/>
            <p:nvPr/>
          </p:nvSpPr>
          <p:spPr>
            <a:xfrm>
              <a:off x="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0" y="0"/>
                  </a:moveTo>
                  <a:lnTo>
                    <a:pt x="2095500" y="0"/>
                  </a:lnTo>
                  <a:lnTo>
                    <a:pt x="0" y="2095500"/>
                  </a:lnTo>
                  <a:close/>
                </a:path>
              </a:pathLst>
            </a:custGeom>
            <a:solidFill>
              <a:srgbClr val="00F0FF">
                <a:alpha val="8000"/>
              </a:srgbClr>
            </a:solidFill>
            <a:ln>
              <a:noFill/>
            </a:ln>
          </p:spPr>
        </p:sp>
        <p:sp>
          <p:nvSpPr>
            <p:cNvPr id="33" name="Polygon 33"/>
            <p:cNvSpPr/>
            <p:nvPr/>
          </p:nvSpPr>
          <p:spPr>
            <a:xfrm>
              <a:off x="16192500" y="0"/>
              <a:ext cx="2095500" cy="2095500"/>
            </a:xfrm>
            <a:custGeom>
              <a:avLst/>
              <a:gdLst/>
              <a:ahLst/>
              <a:cxnLst/>
              <a:rect l="l" t="t" r="r" b="b"/>
              <a:pathLst>
                <a:path w="2095500" h="2095500">
                  <a:moveTo>
                    <a:pt x="2095500" y="0"/>
                  </a:moveTo>
                  <a:lnTo>
                    <a:pt x="0" y="0"/>
                  </a:lnTo>
                  <a:lnTo>
                    <a:pt x="2095500" y="2095500"/>
                  </a:lnTo>
                  <a:close/>
                </a:path>
              </a:pathLst>
            </a:custGeom>
            <a:solidFill>
              <a:srgbClr val="A855F7">
                <a:alpha val="8000"/>
              </a:srgbClr>
            </a:solidFill>
            <a:ln>
              <a:noFill/>
            </a:ln>
          </p:spPr>
        </p:sp>
      </p:grpSp>
      <p:grpSp>
        <p:nvGrpSpPr>
          <p:cNvPr id="37" name="header_group"/>
          <p:cNvGrpSpPr/>
          <p:nvPr/>
        </p:nvGrpSpPr>
        <p:grpSpPr>
          <a:xfrm>
            <a:off x="7967167" y="822325"/>
            <a:ext cx="9196121" cy="1008888"/>
            <a:chOff x="7967167" y="822325"/>
            <a:chExt cx="9196121" cy="1008888"/>
          </a:xfrm>
        </p:grpSpPr>
        <p:sp>
          <p:nvSpPr>
            <p:cNvPr id="35" name="TextBox 35"/>
            <p:cNvSpPr txBox="1"/>
            <p:nvPr/>
          </p:nvSpPr>
          <p:spPr>
            <a:xfrm>
              <a:off x="14794487" y="822325"/>
              <a:ext cx="23581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5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تحلیل تطبیقی رویکردها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67167" y="1127125"/>
              <a:ext cx="919612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360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مقایسه روش‌های سنتی با سامانه هوشمند</a:t>
              </a:r>
            </a:p>
          </p:txBody>
        </p:sp>
      </p:grpSp>
      <p:grpSp>
        <p:nvGrpSpPr>
          <p:cNvPr id="56" name="compare_col_a"/>
          <p:cNvGrpSpPr/>
          <p:nvPr/>
        </p:nvGrpSpPr>
        <p:grpSpPr>
          <a:xfrm>
            <a:off x="9525000" y="2238375"/>
            <a:ext cx="7620000" cy="6667500"/>
            <a:chOff x="9525000" y="2238375"/>
            <a:chExt cx="7620000" cy="6667500"/>
          </a:xfrm>
        </p:grpSpPr>
        <p:sp>
          <p:nvSpPr>
            <p:cNvPr id="38" name="Rectangle 38"/>
            <p:cNvSpPr/>
            <p:nvPr/>
          </p:nvSpPr>
          <p:spPr>
            <a:xfrm>
              <a:off x="9525000" y="2238375"/>
              <a:ext cx="7620000" cy="6667500"/>
            </a:xfrm>
            <a:prstGeom prst="roundRect">
              <a:avLst>
                <a:gd name="adj" fmla="val 4857"/>
              </a:avLst>
            </a:prstGeom>
            <a:solidFill>
              <a:srgbClr val="10182F"/>
            </a:solidFill>
            <a:ln w="19050">
              <a:solidFill>
                <a:srgbClr val="EF4444">
                  <a:alpha val="50000"/>
                </a:srgbClr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9886950" y="2552700"/>
              <a:ext cx="609600" cy="609600"/>
            </a:xfrm>
            <a:prstGeom prst="ellipse">
              <a:avLst/>
            </a:prstGeom>
            <a:solidFill>
              <a:srgbClr val="070B19"/>
            </a:solidFill>
            <a:ln w="19050">
              <a:solidFill>
                <a:srgbClr val="EF4444"/>
              </a:solidFill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10115550" y="2781300"/>
              <a:ext cx="152400" cy="152400"/>
              <a:chOff x="10115550" y="2781300"/>
              <a:chExt cx="152400" cy="1524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115550" y="27813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152400" y="0"/>
                    </a:moveTo>
                    <a:lnTo>
                      <a:pt x="0" y="152400"/>
                    </a:lnTo>
                  </a:path>
                </a:pathLst>
              </a:custGeom>
              <a:noFill/>
              <a:ln w="25400" cap="rnd">
                <a:solidFill>
                  <a:srgbClr val="EF4444"/>
                </a:solidFill>
                <a:round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0115550" y="27813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0"/>
                    </a:moveTo>
                    <a:lnTo>
                      <a:pt x="152400" y="152400"/>
                    </a:lnTo>
                  </a:path>
                </a:pathLst>
              </a:custGeom>
              <a:noFill/>
              <a:ln w="25400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658094" y="2701925"/>
              <a:ext cx="261077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rtl="1"/>
              <a:r>
                <a:rPr lang="fa" sz="1950" b="1" dirty="0">
                  <a:solidFill>
                    <a:srgbClr val="EF4444"/>
                  </a:solidFill>
                  <a:latin typeface="Yekan Bakh"/>
                  <a:ea typeface="Yekan Bakh"/>
                  <a:cs typeface="Yekan Bakh"/>
                  <a:rtl val="1"/>
                </a:rPr>
                <a:t>روش‌های سنتی پردازش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16244888" y="3748088"/>
              <a:ext cx="200025" cy="200025"/>
              <a:chOff x="16244888" y="3748088"/>
              <a:chExt cx="200025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6244888" y="37480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6322675" y="3825875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0"/>
                    </a:moveTo>
                    <a:lnTo>
                      <a:pt x="44450" y="44450"/>
                    </a:lnTo>
                    <a:moveTo>
                      <a:pt x="4445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1674945" y="3702050"/>
              <a:ext cx="43925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سرعت کند و وابستگی مفرط به نیروی انسانی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16244888" y="4433888"/>
              <a:ext cx="200025" cy="200025"/>
              <a:chOff x="16244888" y="4433888"/>
              <a:chExt cx="200025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16244888" y="44338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6322675" y="4511675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0"/>
                    </a:moveTo>
                    <a:lnTo>
                      <a:pt x="44450" y="44450"/>
                    </a:lnTo>
                    <a:moveTo>
                      <a:pt x="4445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2230252" y="4387850"/>
              <a:ext cx="383728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خطای آماری بالا در حجم کلان داده‌ها</a:t>
              </a:r>
            </a:p>
          </p:txBody>
        </p:sp>
        <p:grpSp>
          <p:nvGrpSpPr>
            <p:cNvPr id="54" name="Group 54"/>
            <p:cNvGrpSpPr/>
            <p:nvPr/>
          </p:nvGrpSpPr>
          <p:grpSpPr>
            <a:xfrm>
              <a:off x="16244888" y="5119688"/>
              <a:ext cx="200025" cy="200025"/>
              <a:chOff x="16244888" y="5119688"/>
              <a:chExt cx="200025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16244888" y="5119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16322675" y="5197475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0"/>
                    </a:moveTo>
                    <a:lnTo>
                      <a:pt x="44450" y="44450"/>
                    </a:lnTo>
                    <a:moveTo>
                      <a:pt x="4445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 cap="rnd">
                <a:solidFill>
                  <a:srgbClr val="EF4444"/>
                </a:solidFill>
                <a:round/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1563883" y="5073650"/>
              <a:ext cx="450364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dirty="0">
                  <a:solidFill>
                    <a:srgbClr val="CBD5E1"/>
                  </a:solidFill>
                  <a:latin typeface="Yekan Bakh"/>
                  <a:ea typeface="Yekan Bakh"/>
                  <a:cs typeface="Yekan Bakh"/>
                  <a:rtl val="1"/>
                </a:rPr>
                <a:t>هزینه‌های هنگفت نگهداری و مقیاس‌پذیری سخت</a:t>
              </a:r>
            </a:p>
          </p:txBody>
        </p:sp>
      </p:grpSp>
      <p:grpSp>
        <p:nvGrpSpPr>
          <p:cNvPr id="73" name="compare_col_b"/>
          <p:cNvGrpSpPr/>
          <p:nvPr/>
        </p:nvGrpSpPr>
        <p:grpSpPr>
          <a:xfrm>
            <a:off x="1143000" y="2238375"/>
            <a:ext cx="7620000" cy="6667500"/>
            <a:chOff x="1143000" y="2238375"/>
            <a:chExt cx="7620000" cy="6667500"/>
          </a:xfrm>
        </p:grpSpPr>
        <p:sp>
          <p:nvSpPr>
            <p:cNvPr id="57" name="Rectangle 57"/>
            <p:cNvSpPr/>
            <p:nvPr/>
          </p:nvSpPr>
          <p:spPr>
            <a:xfrm>
              <a:off x="1143000" y="2238375"/>
              <a:ext cx="7620000" cy="6667500"/>
            </a:xfrm>
            <a:prstGeom prst="roundRect">
              <a:avLst>
                <a:gd name="adj" fmla="val 4857"/>
              </a:avLst>
            </a:prstGeom>
            <a:solidFill>
              <a:srgbClr val="10182F"/>
            </a:solidFill>
            <a:ln w="28575">
              <a:solidFill>
                <a:srgbClr val="00F0FF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1504950" y="2552700"/>
              <a:ext cx="609600" cy="609600"/>
            </a:xfrm>
            <a:prstGeom prst="ellipse">
              <a:avLst/>
            </a:prstGeom>
            <a:solidFill>
              <a:srgbClr val="132147"/>
            </a:solidFill>
            <a:ln w="23812">
              <a:solidFill>
                <a:srgbClr val="00F0FF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720850" y="2794000"/>
              <a:ext cx="190500" cy="127000"/>
            </a:xfrm>
            <a:custGeom>
              <a:avLst/>
              <a:gdLst/>
              <a:ahLst/>
              <a:cxnLst/>
              <a:rect l="l" t="t" r="r" b="b"/>
              <a:pathLst>
                <a:path w="190500" h="127000">
                  <a:moveTo>
                    <a:pt x="0" y="63500"/>
                  </a:moveTo>
                  <a:lnTo>
                    <a:pt x="63500" y="127000"/>
                  </a:lnTo>
                  <a:lnTo>
                    <a:pt x="190500" y="0"/>
                  </a:lnTo>
                </a:path>
              </a:pathLst>
            </a:custGeom>
            <a:noFill/>
            <a:ln w="25400" cap="rnd">
              <a:solidFill>
                <a:srgbClr val="00F0FF"/>
              </a:solidFill>
              <a:round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2276094" y="2701925"/>
              <a:ext cx="350658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rtl="1"/>
              <a:r>
                <a:rPr lang="fa" sz="195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  <a:rtl val="1"/>
                </a:rPr>
                <a:t>✦ سامانه هوش مصنوعی نوین</a:t>
              </a:r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862888" y="3748088"/>
              <a:ext cx="200025" cy="200025"/>
              <a:chOff x="7862888" y="3748088"/>
              <a:chExt cx="200025" cy="200025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862888" y="37480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929562" y="38258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2689326" y="3702050"/>
              <a:ext cx="49962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پردازش آنی میلیون‌ها رکورد در کسری از ثانیه</a:t>
              </a:r>
            </a:p>
          </p:txBody>
        </p:sp>
        <p:grpSp>
          <p:nvGrpSpPr>
            <p:cNvPr id="67" name="Group 67"/>
            <p:cNvGrpSpPr/>
            <p:nvPr/>
          </p:nvGrpSpPr>
          <p:grpSpPr>
            <a:xfrm>
              <a:off x="7862888" y="4433888"/>
              <a:ext cx="200025" cy="200025"/>
              <a:chOff x="7862888" y="4433888"/>
              <a:chExt cx="200025" cy="200025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862888" y="44338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929562" y="45116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2561050" y="4387850"/>
              <a:ext cx="51244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دقت تحلیلی بالای ۹۹.۲ درصد با بازخورد مداوم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7862888" y="5119688"/>
              <a:ext cx="200025" cy="200025"/>
              <a:chOff x="7862888" y="5119688"/>
              <a:chExt cx="200025" cy="200025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862888" y="5119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929562" y="51974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 cap="rnd">
                <a:solidFill>
                  <a:srgbClr val="00F0FF"/>
                </a:solidFill>
                <a:round/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2759294" y="5073650"/>
              <a:ext cx="49262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 rtl="1"/>
              <a:r>
                <a:rPr lang="fa" sz="1650" b="1" dirty="0">
                  <a:solidFill>
                    <a:srgbClr val="FFFFFF"/>
                  </a:solidFill>
                  <a:latin typeface="Yekan Bakh"/>
                  <a:ea typeface="Yekan Bakh"/>
                  <a:cs typeface="Yekan Bakh"/>
                  <a:rtl val="1"/>
                </a:rPr>
                <a:t>خودکارسازی فراگیر و کاهش ۶۰ درصدی هزینه‌ها</a:t>
              </a:r>
            </a:p>
          </p:txBody>
        </p:sp>
      </p:grpSp>
      <p:grpSp>
        <p:nvGrpSpPr>
          <p:cNvPr id="80" name="spin_vs_orb"/>
          <p:cNvGrpSpPr/>
          <p:nvPr/>
        </p:nvGrpSpPr>
        <p:grpSpPr>
          <a:xfrm>
            <a:off x="8362950" y="4791075"/>
            <a:ext cx="1562100" cy="1562100"/>
            <a:chOff x="8362950" y="4791075"/>
            <a:chExt cx="1562100" cy="1562100"/>
          </a:xfrm>
        </p:grpSpPr>
        <p:sp>
          <p:nvSpPr>
            <p:cNvPr id="74" name="Ellipse 74"/>
            <p:cNvSpPr/>
            <p:nvPr/>
          </p:nvSpPr>
          <p:spPr>
            <a:xfrm>
              <a:off x="8496300" y="4924425"/>
              <a:ext cx="1295400" cy="1295400"/>
            </a:xfrm>
            <a:prstGeom prst="ellipse">
              <a:avLst/>
            </a:prstGeom>
            <a:noFill/>
            <a:ln w="23812">
              <a:solidFill>
                <a:srgbClr val="EC4899"/>
              </a:solidFill>
              <a:custDash>
                <a:ds d="240000" sp="200000"/>
              </a:custDash>
            </a:ln>
          </p:spPr>
        </p:sp>
        <p:sp>
          <p:nvSpPr>
            <p:cNvPr id="75" name="Ellipse 75"/>
            <p:cNvSpPr/>
            <p:nvPr/>
          </p:nvSpPr>
          <p:spPr>
            <a:xfrm>
              <a:off x="8362950" y="4791075"/>
              <a:ext cx="1562100" cy="1562100"/>
            </a:xfrm>
            <a:prstGeom prst="ellipse">
              <a:avLst/>
            </a:prstGeom>
            <a:noFill/>
            <a:ln w="11430">
              <a:solidFill>
                <a:srgbClr val="00F0FF">
                  <a:alpha val="50000"/>
                </a:srgbClr>
              </a:solidFill>
              <a:custDash>
                <a:ds d="333333" sp="666667"/>
              </a:custDash>
            </a:ln>
          </p:spPr>
        </p:sp>
        <p:sp>
          <p:nvSpPr>
            <p:cNvPr id="76" name="Ellipse 76"/>
            <p:cNvSpPr/>
            <p:nvPr/>
          </p:nvSpPr>
          <p:spPr>
            <a:xfrm>
              <a:off x="9744075" y="5524500"/>
              <a:ext cx="95250" cy="95250"/>
            </a:xfrm>
            <a:prstGeom prst="ellipse">
              <a:avLst/>
            </a:prstGeom>
            <a:solidFill>
              <a:srgbClr val="00F0FF"/>
            </a:solidFill>
            <a:ln>
              <a:noFill/>
            </a:ln>
          </p:spPr>
        </p:sp>
        <p:sp>
          <p:nvSpPr>
            <p:cNvPr id="77" name="Ellipse 77"/>
            <p:cNvSpPr/>
            <p:nvPr/>
          </p:nvSpPr>
          <p:spPr>
            <a:xfrm>
              <a:off x="8448675" y="5524500"/>
              <a:ext cx="95250" cy="95250"/>
            </a:xfrm>
            <a:prstGeom prst="ellipse">
              <a:avLst/>
            </a:prstGeom>
            <a:solidFill>
              <a:srgbClr val="EC4899"/>
            </a:solidFill>
            <a:ln>
              <a:noFill/>
            </a:ln>
          </p:spPr>
        </p:sp>
        <p:sp>
          <p:nvSpPr>
            <p:cNvPr id="78" name="Ellipse 78"/>
            <p:cNvSpPr/>
            <p:nvPr/>
          </p:nvSpPr>
          <p:spPr>
            <a:xfrm>
              <a:off x="8648700" y="5076825"/>
              <a:ext cx="990600" cy="990600"/>
            </a:xfrm>
            <a:prstGeom prst="ellipse">
              <a:avLst/>
            </a:prstGeom>
            <a:solidFill>
              <a:srgbClr val="132147"/>
            </a:solidFill>
            <a:ln w="28575">
              <a:solidFill>
                <a:srgbClr val="00F0FF"/>
              </a:solidFill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8960830" y="5413375"/>
              <a:ext cx="36633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00F0FF"/>
                  </a:solidFill>
                  <a:latin typeface="Yekan Bakh"/>
                  <a:ea typeface="Yekan Bakh"/>
                  <a:cs typeface="Yekan Bakh"/>
                </a:rPr>
                <a:t>VS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xmlns:p="http://schemas.openxmlformats.org/presentationml/2006/main" id="10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7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900"/>
                            </p:stCondLst>
                            <p:childTnLst>
                              <p:par>
                                <p:cTn xmlns:p="http://schemas.openxmlformats.org/presentationml/2006/main" id="24" presetID="2" presetClass="entr" presetSubtype="4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650"/>
                            </p:stCondLst>
                            <p:childTnLst>
                              <p:par>
                                <p:cTn xmlns:p="http://schemas.openxmlformats.org/presentationml/2006/main" id="29" presetID="23" presetClass="entr" presetSubtype="16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400"/>
                            </p:stCondLst>
                            <p:childTnLst>
                              <p:par>
                                <p:cTn xmlns:p="http://schemas.openxmlformats.org/presentationml/2006/main" id="34" presetID="49" presetClass="entr" presetSubtype="0" decel="10000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oject_run">
  <a:themeElements>
    <a:clrScheme name="project_ru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ject_run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ject_ru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roject_run">
  <a:themeElements>
    <a:clrScheme name="project_ru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ject_run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ject_ru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fa</dc:language>
  <cp:lastModifiedBy/>
  <cp:revision>1</cp:revision>
  <dcterms:created xsi:type="dcterms:W3CDTF">2026-10-10T18:59:28Z</dcterms:created>
  <dcterms:modified xsi:type="dcterms:W3CDTF">2026-10-10T18:59:28Z</dcterms:modified>
  <cp:category/>
  <cp:contentStatus/>
</cp:coreProperties>
</file>